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62" autoAdjust="0"/>
  </p:normalViewPr>
  <p:slideViewPr>
    <p:cSldViewPr>
      <p:cViewPr varScale="1">
        <p:scale>
          <a:sx n="105" d="100"/>
          <a:sy n="105" d="100"/>
        </p:scale>
        <p:origin x="798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Click to move the slide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4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0323BDB2-A35A-4D5D-BFB0-5827C87B7801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0757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6022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1166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4770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7252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8115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6671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3992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0138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3017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12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0698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5372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14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7796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15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4675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16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7474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17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1375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ild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" name="Grafik 8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748080"/>
            <a:ext cx="3931560" cy="130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32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 bwMode="auto">
          <a:xfrm>
            <a:off x="4917240" y="99540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3200" b="0" u="none" strike="noStrike">
                <a:solidFill>
                  <a:schemeClr val="dk1"/>
                </a:solidFill>
                <a:latin typeface="Calibri"/>
              </a:rPr>
              <a:t>Bild durch Klicken auf Symbol hinzufügen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16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8290AF8-983C-4E29-855A-C8EEDC5E1469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60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1C994949-BB3C-4F98-B423-22F668F9EC91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81120"/>
            <a:ext cx="10183680" cy="100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688051-465E-46AE-AF10-99E238759208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Abschnitts-&#10;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60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24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Mastertextformat bearbeiten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9248A00-0C3F-4A5C-B530-1472F8624302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1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81120"/>
            <a:ext cx="10134000" cy="100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0445A79-5290-4E66-844F-E81847A58DD2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9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668160"/>
            <a:ext cx="10173960" cy="102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2400" b="1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tabLst>
                <a:tab pos="0" algn="l"/>
              </a:tabLst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2400" b="1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tabLst>
                <a:tab pos="0" algn="l"/>
              </a:tabLst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7" name="PlaceHolder 8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54EFF92-E3F9-4722-9C71-3E4F7BA0039C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1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73200"/>
            <a:ext cx="10191960" cy="101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3295583-D725-497D-81E2-B81AEB8562A2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rgbClr val="000000"/>
                </a:solidFill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800" b="0" u="none" strike="noStrike">
                <a:solidFill>
                  <a:srgbClr val="000000"/>
                </a:solidFill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400" b="0" u="none" strike="noStrike">
                <a:solidFill>
                  <a:srgbClr val="000000"/>
                </a:solidFill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rgbClr val="000000"/>
                </a:solidFill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9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73200"/>
            <a:ext cx="10191960" cy="101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FAE9E3F-58DB-4739-A41A-1CB363CBCA50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rgbClr val="000000"/>
                </a:solidFill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800" b="0" u="none" strike="noStrike">
                <a:solidFill>
                  <a:srgbClr val="000000"/>
                </a:solidFill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400" b="0" u="none" strike="noStrike">
                <a:solidFill>
                  <a:srgbClr val="000000"/>
                </a:solidFill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rgbClr val="000000"/>
                </a:solidFill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5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73200"/>
            <a:ext cx="10191960" cy="101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B2FDB9C0-5B56-433A-B6DF-665C36878247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rgbClr val="000000"/>
                </a:solidFill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800" b="0" u="none" strike="noStrike">
                <a:solidFill>
                  <a:srgbClr val="000000"/>
                </a:solidFill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400" b="0" u="none" strike="noStrike">
                <a:solidFill>
                  <a:srgbClr val="000000"/>
                </a:solidFill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rgbClr val="000000"/>
                </a:solidFill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8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D8F9986-AC54-458E-ABDF-4DC23A9BE9B0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Inhalt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3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690120"/>
            <a:ext cx="3931560" cy="136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32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 bwMode="auto">
          <a:xfrm>
            <a:off x="4883760" y="99540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8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32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16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294BB57-7FF4-4615-9AB5-40C941A77F0C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valenpe7/bentley-ottmann/master/bentley-ottmann.gi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edia.geeksforgeeks.org/wp-content/uploads/20241004102053776744/Balance-a-Binary-Search-Tree-4.webp" TargetMode="External"/><Relationship Id="rId5" Type="http://schemas.openxmlformats.org/officeDocument/2006/relationships/hyperlink" Target="https://www.r-jin.dev/writings/heaps" TargetMode="External"/><Relationship Id="rId4" Type="http://schemas.openxmlformats.org/officeDocument/2006/relationships/hyperlink" Target="https://www.reddit.com/r/Unity3D/comments/iawibf/my_implementation_of_the_bentleyottmann_swee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348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de-DE" sz="4400" b="0" u="none" strike="noStrike" dirty="0">
                <a:solidFill>
                  <a:schemeClr val="dk1"/>
                </a:solidFill>
                <a:latin typeface="Calibri"/>
                <a:ea typeface="Arial"/>
              </a:rPr>
              <a:t>Der Bentley Ottmann Algorithmus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3475328" y="3425304"/>
            <a:ext cx="5240744" cy="127299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500" b="0" u="none" strike="noStrike" dirty="0">
                <a:solidFill>
                  <a:schemeClr val="dk1"/>
                </a:solidFill>
                <a:latin typeface="Calibri"/>
                <a:ea typeface="Arial"/>
              </a:rPr>
              <a:t>Ross Alexander Khrisna Universität Kassel, Fachbereich 16 – Elektrotechnik/Informatik</a:t>
            </a: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Motivation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Gegeben: n Liniensegmente in ℝ²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Gesucht: Alle Schnittpunkte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Ziel: Subquadratische Laufzeit</a:t>
            </a:r>
            <a:endParaRPr lang="en-US" sz="2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AB54863-8A52-47E7-9304-D525BEEA1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980728"/>
            <a:ext cx="4783460" cy="46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3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Das Segment-Schnitt-Problem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208206" y="3245559"/>
            <a:ext cx="3370764" cy="139397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500" b="0" u="none" strike="noStrike" dirty="0" err="1">
                <a:solidFill>
                  <a:srgbClr val="000000"/>
                </a:solidFill>
                <a:latin typeface="+mj-lt"/>
              </a:rPr>
              <a:t>Entscheidungsproblem</a:t>
            </a:r>
            <a:endParaRPr lang="en-US" sz="2500" dirty="0">
              <a:solidFill>
                <a:srgbClr val="000000"/>
              </a:solidFill>
              <a:latin typeface="+mj-lt"/>
            </a:endParaRP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500" b="0" u="none" strike="noStrike" dirty="0">
                <a:solidFill>
                  <a:srgbClr val="000000"/>
                </a:solidFill>
                <a:latin typeface="+mj-lt"/>
              </a:rPr>
              <a:t>Reporting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-Problem</a:t>
            </a: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500" b="0" u="none" strike="noStrike" dirty="0">
                <a:solidFill>
                  <a:srgbClr val="000000"/>
                </a:solidFill>
                <a:latin typeface="+mj-lt"/>
              </a:rPr>
              <a:t>Counting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-Problem </a:t>
            </a:r>
            <a:endParaRPr lang="en-US" sz="2500" b="0" u="none" strike="noStrike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3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B10FAB12-1818-4DB9-9695-1A85F2BCFCD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76421" y="2597487"/>
                <a:ext cx="7439157" cy="64807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>
                <a:lvl1pPr indent="0"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tabLst>
                    <a:tab pos="0" algn="l"/>
                  </a:tabLst>
                  <a:defRPr lang="de-DE" sz="4400" b="0" u="none" strike="noStrike" kern="1200">
                    <a:solidFill>
                      <a:schemeClr val="dk1"/>
                    </a:solidFill>
                    <a:latin typeface="Calibri Light"/>
                    <a:ea typeface="+mj-ea"/>
                    <a:cs typeface="+mj-cs"/>
                  </a:defRPr>
                </a:lvl1pPr>
              </a:lstStyle>
              <a:p>
                <a:pPr algn="ctr" defTabSz="45720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de-D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de-DE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de-DE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de-DE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e-D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de-DE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de-DE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de-DE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de-DE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m:rPr>
                        <m:nor/>
                      </m:rPr>
                      <a:rPr lang="de-DE" sz="2800">
                        <a:solidFill>
                          <a:schemeClr val="tx1"/>
                        </a:solidFill>
                      </a:rPr>
                      <m:t>​</m:t>
                    </m:r>
                  </m:oMath>
                </a14:m>
                <a:r>
                  <a:rPr lang="en-US" sz="25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chemeClr val="tx1"/>
                    </a:solidFill>
                    <a:latin typeface="+mj-lt"/>
                  </a:rPr>
                  <a:t>mit</a:t>
                </a:r>
                <a:r>
                  <a:rPr lang="en-US" sz="2500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5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ⅈ</m:t>
                    </m:r>
                    <m:r>
                      <a:rPr lang="en-US" sz="25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5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5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∧ⅈ&gt;0</m:t>
                    </m:r>
                  </m:oMath>
                </a14:m>
                <a:endParaRPr lang="en-US" sz="25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B10FAB12-1818-4DB9-9695-1A85F2BCF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6421" y="2597487"/>
                <a:ext cx="7439157" cy="648072"/>
              </a:xfrm>
              <a:prstGeom prst="rect">
                <a:avLst/>
              </a:prstGeom>
              <a:blipFill>
                <a:blip r:embed="rId3"/>
                <a:stretch>
                  <a:fillRect t="-943" b="-188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38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Naiver Algorithmus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4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5161CC8-BEBF-4114-B9F2-B678D95DE996}"/>
                  </a:ext>
                </a:extLst>
              </p:cNvPr>
              <p:cNvSpPr txBox="1"/>
              <p:nvPr/>
            </p:nvSpPr>
            <p:spPr>
              <a:xfrm>
                <a:off x="479376" y="1635020"/>
                <a:ext cx="4464496" cy="1710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500" dirty="0">
                    <a:solidFill>
                      <a:schemeClr val="tx1"/>
                    </a:solidFill>
                    <a:latin typeface="+mj-lt"/>
                  </a:rPr>
                  <a:t>Idee: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500" dirty="0">
                    <a:solidFill>
                      <a:schemeClr val="tx1"/>
                    </a:solidFill>
                    <a:latin typeface="+mj-lt"/>
                  </a:rPr>
                  <a:t>Prüfe jedes Segmentpaar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500" dirty="0">
                    <a:solidFill>
                      <a:schemeClr val="tx1"/>
                    </a:solidFill>
                    <a:latin typeface="+mj-lt"/>
                  </a:rPr>
                  <a:t>Anzahl der Paare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de-DE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>
                    <a:solidFill>
                      <a:schemeClr val="tx1"/>
                    </a:solidFill>
                    <a:latin typeface="+mj-lt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500" dirty="0" err="1">
                    <a:solidFill>
                      <a:schemeClr val="tx1"/>
                    </a:solidFill>
                    <a:latin typeface="+mj-lt"/>
                  </a:rPr>
                  <a:t>Worst</a:t>
                </a:r>
                <a:r>
                  <a:rPr lang="de-DE" sz="2500" dirty="0">
                    <a:solidFill>
                      <a:schemeClr val="tx1"/>
                    </a:solidFill>
                    <a:latin typeface="+mj-lt"/>
                  </a:rPr>
                  <a:t>-Case Laufzeit von </a:t>
                </a:r>
                <a14:m>
                  <m:oMath xmlns:m="http://schemas.openxmlformats.org/officeDocument/2006/math">
                    <m:r>
                      <a:rPr lang="de-DE" sz="25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25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sz="25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5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de-DE" sz="250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de-DE" sz="25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5161CC8-BEBF-4114-B9F2-B678D95DE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1635020"/>
                <a:ext cx="4464496" cy="1710533"/>
              </a:xfrm>
              <a:prstGeom prst="rect">
                <a:avLst/>
              </a:prstGeom>
              <a:blipFill>
                <a:blip r:embed="rId3"/>
                <a:stretch>
                  <a:fillRect l="-2322" t="-2491" b="-49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7">
            <a:extLst>
              <a:ext uri="{FF2B5EF4-FFF2-40B4-BE49-F238E27FC236}">
                <a16:creationId xmlns:a16="http://schemas.microsoft.com/office/drawing/2014/main" id="{345BAF07-417C-437C-85BB-3DB4F988E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433" y="1635815"/>
            <a:ext cx="60483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2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Sweep-Line-Technik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2" name="m2-res_1080p">
            <a:hlinkClick r:id="" action="ppaction://media"/>
            <a:extLst>
              <a:ext uri="{FF2B5EF4-FFF2-40B4-BE49-F238E27FC236}">
                <a16:creationId xmlns:a16="http://schemas.microsoft.com/office/drawing/2014/main" id="{CF0BFE6F-1B5B-4AE6-A980-05FD66161C9D}"/>
              </a:ext>
            </a:extLst>
          </p:cNvPr>
          <p:cNvPicPr>
            <a:picLocks noGrp="1" noChangeAspect="1"/>
          </p:cNvPicPr>
          <p:nvPr>
            <p:ph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38906" y="1556792"/>
            <a:ext cx="7114188" cy="4001818"/>
          </a:xfrm>
        </p:spPr>
      </p:pic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5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746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 err="1">
                <a:latin typeface="Calibri"/>
              </a:rPr>
              <a:t>Shamos-Hoey</a:t>
            </a:r>
            <a:r>
              <a:rPr lang="de-DE" dirty="0">
                <a:latin typeface="Calibri"/>
              </a:rPr>
              <a:t> Algorithmus 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6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768B5FC-3928-46B2-B51A-53B4FB550A52}"/>
              </a:ext>
            </a:extLst>
          </p:cNvPr>
          <p:cNvSpPr/>
          <p:nvPr/>
        </p:nvSpPr>
        <p:spPr>
          <a:xfrm>
            <a:off x="1532514" y="1726232"/>
            <a:ext cx="1844048" cy="30367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C1CB186-9DBF-4EBA-B8ED-79667F890E06}"/>
              </a:ext>
            </a:extLst>
          </p:cNvPr>
          <p:cNvSpPr/>
          <p:nvPr/>
        </p:nvSpPr>
        <p:spPr bwMode="auto">
          <a:xfrm>
            <a:off x="1684914" y="1878632"/>
            <a:ext cx="1844048" cy="30367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i="1" dirty="0">
                <a:solidFill>
                  <a:schemeClr val="tx1"/>
                </a:solidFill>
              </a:rPr>
              <a:t>Sweep-Line</a:t>
            </a:r>
          </a:p>
          <a:p>
            <a:pPr algn="ctr"/>
            <a:r>
              <a:rPr lang="de-DE" i="1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de-DE" i="1" dirty="0">
                <a:solidFill>
                  <a:schemeClr val="tx1"/>
                </a:solidFill>
              </a:rPr>
              <a:t>Datenstrukturen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6785997-EA20-4C6D-A3B3-BE85B279AE33}"/>
              </a:ext>
            </a:extLst>
          </p:cNvPr>
          <p:cNvSpPr/>
          <p:nvPr/>
        </p:nvSpPr>
        <p:spPr bwMode="auto">
          <a:xfrm>
            <a:off x="4926189" y="1758230"/>
            <a:ext cx="1844048" cy="30367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6342FC8-9FA8-47D8-B488-5EAA981A521F}"/>
              </a:ext>
            </a:extLst>
          </p:cNvPr>
          <p:cNvSpPr/>
          <p:nvPr/>
        </p:nvSpPr>
        <p:spPr bwMode="auto">
          <a:xfrm>
            <a:off x="5078589" y="1910630"/>
            <a:ext cx="1844048" cy="303674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i="1" dirty="0">
                <a:solidFill>
                  <a:schemeClr val="tx1"/>
                </a:solidFill>
              </a:rPr>
              <a:t>Existiert mind.</a:t>
            </a:r>
          </a:p>
          <a:p>
            <a:pPr algn="ctr"/>
            <a:r>
              <a:rPr lang="de-DE" i="1" dirty="0">
                <a:solidFill>
                  <a:schemeClr val="tx1"/>
                </a:solidFill>
              </a:rPr>
              <a:t>ein Schnittpunkt?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FD75D9B-0E2A-4720-A5BF-FD5DC720CA10}"/>
              </a:ext>
            </a:extLst>
          </p:cNvPr>
          <p:cNvSpPr/>
          <p:nvPr/>
        </p:nvSpPr>
        <p:spPr bwMode="auto">
          <a:xfrm>
            <a:off x="8319864" y="1758230"/>
            <a:ext cx="1844048" cy="30367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8656306D-5CB1-4BAE-A6C3-4E6AB3944751}"/>
                  </a:ext>
                </a:extLst>
              </p:cNvPr>
              <p:cNvSpPr/>
              <p:nvPr/>
            </p:nvSpPr>
            <p:spPr bwMode="auto">
              <a:xfrm>
                <a:off x="8472264" y="1910630"/>
                <a:ext cx="1844048" cy="303674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de-DE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8656306D-5CB1-4BAE-A6C3-4E6AB3944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2264" y="1910630"/>
                <a:ext cx="1844048" cy="30367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fik 3">
            <a:extLst>
              <a:ext uri="{FF2B5EF4-FFF2-40B4-BE49-F238E27FC236}">
                <a16:creationId xmlns:a16="http://schemas.microsoft.com/office/drawing/2014/main" id="{FBEBE525-EDBA-4DCC-9BB1-CCDF9A3AC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875" y="5177777"/>
            <a:ext cx="38766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Datenstrukturen 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4392488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defTabSz="457200">
              <a:lnSpc>
                <a:spcPct val="100000"/>
              </a:lnSpc>
              <a:buAutoNum type="arabicPeriod"/>
              <a:tabLst>
                <a:tab pos="0" algn="l"/>
              </a:tabLst>
              <a:defRPr/>
            </a:pPr>
            <a:r>
              <a:rPr lang="en-US" sz="2500" b="0" u="none" strike="noStrike" dirty="0">
                <a:solidFill>
                  <a:srgbClr val="000000"/>
                </a:solidFill>
                <a:latin typeface="Arial"/>
              </a:rPr>
              <a:t>Event Queue</a:t>
            </a:r>
          </a:p>
          <a:p>
            <a:pPr marL="342900" indent="-34290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500" dirty="0" err="1">
                <a:solidFill>
                  <a:srgbClr val="000000"/>
                </a:solidFill>
                <a:latin typeface="Arial"/>
              </a:rPr>
              <a:t>Prioritätswarteschlange</a:t>
            </a:r>
            <a:endParaRPr lang="en-US" sz="2500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500" b="0" u="none" strike="noStrike" dirty="0" err="1">
                <a:solidFill>
                  <a:srgbClr val="000000"/>
                </a:solidFill>
                <a:latin typeface="Arial"/>
              </a:rPr>
              <a:t>Sortiert</a:t>
            </a:r>
            <a:r>
              <a:rPr lang="en-US" sz="2500" b="0" u="none" strike="noStrike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500" b="0" u="none" strike="noStrike" dirty="0" err="1">
                <a:solidFill>
                  <a:srgbClr val="000000"/>
                </a:solidFill>
                <a:latin typeface="Arial"/>
              </a:rPr>
              <a:t>nach</a:t>
            </a:r>
            <a:r>
              <a:rPr lang="en-US" sz="2500" dirty="0">
                <a:solidFill>
                  <a:srgbClr val="000000"/>
                </a:solidFill>
                <a:latin typeface="Arial"/>
              </a:rPr>
              <a:t> x</a:t>
            </a:r>
            <a:endParaRPr lang="en-US" sz="2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7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56628C43-2B08-4399-9B66-B480EACE017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600056" y="1556792"/>
                <a:ext cx="4392488" cy="453650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>
                <a:lvl1pPr indent="0"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tabLst>
                    <a:tab pos="0" algn="l"/>
                  </a:tabLst>
                  <a:defRPr lang="de-DE" sz="4400" b="0" u="none" strike="noStrike" kern="1200">
                    <a:solidFill>
                      <a:schemeClr val="dk1"/>
                    </a:solidFill>
                    <a:latin typeface="Calibri Light"/>
                    <a:ea typeface="+mj-ea"/>
                    <a:cs typeface="+mj-cs"/>
                  </a:defRPr>
                </a:lvl1pPr>
              </a:lstStyle>
              <a:p>
                <a:pPr marL="457200" indent="-457200" defTabSz="457200">
                  <a:lnSpc>
                    <a:spcPct val="100000"/>
                  </a:lnSpc>
                  <a:buAutoNum type="arabicPeriod"/>
                  <a:defRPr/>
                </a:pP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Sweep-Line-Status</a:t>
                </a:r>
              </a:p>
              <a:p>
                <a:pPr marL="457200" indent="-4572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Balancierter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binärer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Suchbaum</a:t>
                </a:r>
                <a:endParaRPr lang="en-US" sz="2500" dirty="0">
                  <a:solidFill>
                    <a:srgbClr val="000000"/>
                  </a:solidFill>
                  <a:latin typeface="Arial"/>
                </a:endParaRPr>
              </a:p>
              <a:p>
                <a:pPr marL="457200" indent="-4572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sz="25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5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5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de-DE" sz="25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de-DE" sz="25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5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d>
                          <m:dPr>
                            <m:ctrlPr>
                              <a:rPr lang="en-US" sz="25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de-DE" sz="25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500" i="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56628C43-2B08-4399-9B66-B480EACE0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0056" y="1556792"/>
                <a:ext cx="4392488" cy="4536504"/>
              </a:xfrm>
              <a:prstGeom prst="rect">
                <a:avLst/>
              </a:prstGeom>
              <a:blipFill>
                <a:blip r:embed="rId3"/>
                <a:stretch>
                  <a:fillRect l="-2083" t="-94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84808BF6-802E-4FFF-BD2F-6EF62EDD22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15" b="99724" l="763" r="99584">
                        <a14:foregroundMark x1="27601" y1="8978" x2="29750" y2="25967"/>
                        <a14:foregroundMark x1="29750" y1="25967" x2="30583" y2="27901"/>
                        <a14:foregroundMark x1="27393" y1="5110" x2="35576" y2="26934"/>
                        <a14:foregroundMark x1="35576" y1="26934" x2="38350" y2="52210"/>
                        <a14:foregroundMark x1="38350" y1="52210" x2="31484" y2="56768"/>
                        <a14:foregroundMark x1="23370" y1="0" x2="23725" y2="17812"/>
                        <a14:foregroundMark x1="17523" y1="31344" x2="15950" y2="33978"/>
                        <a14:foregroundMark x1="18639" y1="29475" x2="17975" y2="30586"/>
                        <a14:foregroundMark x1="15950" y1="33978" x2="1179" y2="33978"/>
                        <a14:foregroundMark x1="832" y1="34807" x2="1456" y2="97099"/>
                        <a14:foregroundMark x1="1595" y1="98895" x2="21359" y2="96271"/>
                        <a14:foregroundMark x1="21359" y1="96271" x2="40638" y2="81906"/>
                        <a14:foregroundMark x1="40638" y1="81906" x2="39459" y2="47238"/>
                        <a14:foregroundMark x1="39459" y1="47238" x2="39945" y2="42956"/>
                        <a14:foregroundMark x1="38904" y1="43508" x2="25867" y2="58011"/>
                        <a14:foregroundMark x1="25867" y1="58011" x2="13800" y2="49033"/>
                        <a14:foregroundMark x1="13800" y1="49033" x2="29542" y2="34254"/>
                        <a14:foregroundMark x1="46463" y1="49309" x2="22746" y2="62431"/>
                        <a14:foregroundMark x1="22746" y1="62431" x2="43412" y2="54144"/>
                        <a14:foregroundMark x1="47642" y1="60635" x2="26768" y2="70856"/>
                        <a14:foregroundMark x1="26768" y1="70856" x2="43759" y2="78591"/>
                        <a14:foregroundMark x1="43759" y1="78591" x2="71775" y2="74171"/>
                        <a14:foregroundMark x1="84327" y1="58287" x2="67129" y2="55249"/>
                        <a14:foregroundMark x1="67129" y1="55249" x2="66227" y2="35497"/>
                        <a14:foregroundMark x1="66227" y1="35497" x2="61234" y2="36326"/>
                        <a14:foregroundMark x1="69556" y1="18646" x2="58252" y2="34945"/>
                        <a14:foregroundMark x1="58252" y1="34945" x2="68932" y2="33011"/>
                        <a14:foregroundMark x1="68932" y1="33011" x2="49584" y2="22238"/>
                        <a14:foregroundMark x1="49584" y1="22238" x2="49584" y2="22238"/>
                        <a14:foregroundMark x1="63315" y1="9945" x2="53398" y2="21133"/>
                        <a14:foregroundMark x1="53398" y1="21133" x2="60749" y2="23066"/>
                        <a14:foregroundMark x1="35090" y1="10497" x2="46949" y2="14227"/>
                        <a14:foregroundMark x1="46949" y1="14227" x2="37864" y2="8149"/>
                        <a14:foregroundMark x1="37864" y1="8149" x2="47642" y2="7873"/>
                        <a14:foregroundMark x1="47642" y1="7873" x2="40985" y2="22928"/>
                        <a14:foregroundMark x1="40985" y1="22928" x2="54438" y2="29972"/>
                        <a14:foregroundMark x1="80374" y1="21271" x2="66644" y2="13812"/>
                        <a14:foregroundMark x1="66644" y1="13812" x2="74272" y2="27210"/>
                        <a14:foregroundMark x1="74272" y1="27210" x2="87101" y2="16989"/>
                        <a14:foregroundMark x1="87101" y1="16989" x2="82732" y2="73066"/>
                        <a14:foregroundMark x1="82732" y1="73066" x2="94452" y2="82044"/>
                        <a14:foregroundMark x1="94452" y1="82044" x2="97434" y2="70580"/>
                        <a14:foregroundMark x1="95770" y1="41436" x2="90777" y2="28867"/>
                        <a14:foregroundMark x1="90777" y1="28867" x2="89112" y2="65746"/>
                        <a14:foregroundMark x1="89112" y1="65746" x2="92164" y2="31492"/>
                        <a14:foregroundMark x1="92164" y1="31492" x2="93689" y2="60635"/>
                        <a14:foregroundMark x1="97157" y1="12569" x2="99584" y2="28177"/>
                        <a14:foregroundMark x1="97157" y1="7459" x2="68031" y2="7735"/>
                        <a14:foregroundMark x1="96879" y1="12845" x2="70527" y2="9254"/>
                        <a14:foregroundMark x1="70527" y1="9254" x2="84535" y2="12155"/>
                        <a14:foregroundMark x1="84535" y1="12155" x2="59293" y2="3453"/>
                        <a14:foregroundMark x1="59293" y1="3453" x2="54577" y2="5110"/>
                        <a14:foregroundMark x1="60472" y1="6354" x2="58946" y2="11740"/>
                        <a14:foregroundMark x1="56865" y1="12293" x2="55201" y2="13260"/>
                        <a14:foregroundMark x1="56588" y1="40608" x2="54577" y2="60359"/>
                        <a14:foregroundMark x1="54577" y1="60359" x2="58807" y2="35083"/>
                        <a14:foregroundMark x1="58807" y1="35083" x2="58044" y2="34254"/>
                        <a14:foregroundMark x1="64078" y1="53177" x2="53259" y2="51934"/>
                        <a14:foregroundMark x1="53259" y1="51934" x2="42857" y2="40470"/>
                        <a14:foregroundMark x1="42857" y1="40470" x2="44175" y2="47238"/>
                        <a14:foregroundMark x1="55964" y1="48343" x2="58391" y2="69475"/>
                        <a14:foregroundMark x1="66366" y1="80525" x2="16921" y2="76243"/>
                        <a14:foregroundMark x1="16921" y1="76243" x2="22746" y2="79006"/>
                        <a14:foregroundMark x1="45562" y1="82044" x2="25589" y2="80249"/>
                        <a14:foregroundMark x1="25589" y1="80249" x2="11859" y2="55663"/>
                        <a14:foregroundMark x1="11859" y1="55663" x2="20804" y2="58287"/>
                        <a14:foregroundMark x1="20804" y1="58287" x2="20319" y2="57459"/>
                        <a14:foregroundMark x1="8738" y1="67680" x2="10818" y2="85912"/>
                        <a14:foregroundMark x1="38280" y1="87155" x2="58530" y2="94890"/>
                        <a14:foregroundMark x1="58530" y1="94890" x2="59154" y2="91298"/>
                        <a14:foregroundMark x1="84466" y1="90193" x2="75035" y2="94061"/>
                        <a14:foregroundMark x1="75035" y1="94061" x2="75589" y2="89227"/>
                        <a14:foregroundMark x1="94105" y1="86188" x2="80374" y2="94337"/>
                        <a14:foregroundMark x1="80374" y1="94337" x2="68724" y2="93923"/>
                        <a14:foregroundMark x1="68724" y1="93923" x2="77878" y2="87293"/>
                        <a14:foregroundMark x1="77878" y1="87293" x2="64840" y2="99724"/>
                        <a14:foregroundMark x1="64840" y1="99724" x2="64840" y2="99724"/>
                        <a14:foregroundMark x1="81900" y1="71547" x2="81761" y2="73619"/>
                        <a14:foregroundMark x1="80583" y1="36326" x2="76006" y2="50552"/>
                        <a14:foregroundMark x1="76006" y1="50552" x2="70319" y2="39917"/>
                        <a14:foregroundMark x1="25035" y1="20166" x2="26976" y2="25829"/>
                        <a14:foregroundMark x1="26976" y1="27348" x2="26214" y2="29696"/>
                        <a14:foregroundMark x1="25312" y1="29972" x2="20319" y2="31906"/>
                        <a14:foregroundMark x1="33147" y1="29346" x2="33867" y2="29027"/>
                        <a14:foregroundMark x1="31946" y1="24242" x2="32986" y2="33812"/>
                        <a14:foregroundMark x1="50120" y1="53589" x2="48038" y2="57735"/>
                        <a14:foregroundMark x1="64211" y1="60128" x2="66053" y2="68740"/>
                        <a14:foregroundMark x1="66773" y1="61563" x2="71337" y2="65231"/>
                        <a14:foregroundMark x1="11049" y1="50877" x2="12914" y2="47865"/>
                        <a14:foregroundMark x1="50120" y1="53907" x2="52042" y2="61563"/>
                        <a14:backgroundMark x1="2358" y1="24309" x2="6449" y2="26105"/>
                        <a14:backgroundMark x1="1456" y1="29144" x2="11789" y2="28177"/>
                        <a14:backgroundMark x1="11789" y1="28177" x2="10541" y2="27624"/>
                        <a14:backgroundMark x1="16990" y1="27072" x2="22122" y2="26105"/>
                        <a14:backgroundMark x1="21983" y1="27901" x2="16852" y2="27348"/>
                        <a14:backgroundMark x1="17476" y1="27348" x2="18239" y2="27624"/>
                        <a14:backgroundMark x1="17614" y1="29420" x2="15049" y2="29144"/>
                        <a14:backgroundMark x1="22607" y1="24309" x2="22746" y2="17956"/>
                        <a14:backgroundMark x1="22885" y1="18370" x2="23509" y2="21961"/>
                        <a14:backgroundMark x1="6966" y1="46411" x2="6645" y2="52632"/>
                        <a14:backgroundMark x1="13611" y1="46411" x2="13611" y2="46411"/>
                        <a14:backgroundMark x1="12970" y1="45136" x2="14171" y2="46093"/>
                        <a14:backgroundMark x1="12810" y1="46890" x2="14652" y2="45774"/>
                        <a14:backgroundMark x1="21857" y1="23604" x2="21857" y2="23604"/>
                        <a14:backgroundMark x1="21857" y1="24561" x2="23219" y2="212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3140968"/>
            <a:ext cx="5181230" cy="260139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CED948-EFE2-4F87-8607-9E516C395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8" y="3240208"/>
            <a:ext cx="2702529" cy="240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1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Ordnung der Segmente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8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A0046666-E53E-4FC5-9CF9-B72689068340}"/>
              </a:ext>
            </a:extLst>
          </p:cNvPr>
          <p:cNvSpPr txBox="1">
            <a:spLocks/>
          </p:cNvSpPr>
          <p:nvPr/>
        </p:nvSpPr>
        <p:spPr bwMode="auto">
          <a:xfrm>
            <a:off x="1916600" y="3429000"/>
            <a:ext cx="7953975" cy="92661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0" algn="l"/>
              </a:tabLst>
              <a:defRPr lang="de-DE" sz="4400" b="0" u="none" strike="noStrike" kern="1200">
                <a:solidFill>
                  <a:schemeClr val="dk1"/>
                </a:solidFill>
                <a:latin typeface="Calibri Light"/>
                <a:ea typeface="+mj-ea"/>
                <a:cs typeface="+mj-cs"/>
              </a:defRPr>
            </a:lvl1pPr>
          </a:lstStyle>
          <a:p>
            <a:pPr algn="ctr" defTabSz="457200">
              <a:lnSpc>
                <a:spcPct val="100000"/>
              </a:lnSpc>
              <a:defRPr/>
            </a:pPr>
            <a:r>
              <a:rPr lang="en-US" sz="2500" dirty="0" err="1">
                <a:solidFill>
                  <a:srgbClr val="000000"/>
                </a:solidFill>
                <a:latin typeface="+mj-lt"/>
              </a:rPr>
              <a:t>Ordnung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+mj-lt"/>
              </a:rPr>
              <a:t>abhängig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 von </a:t>
            </a:r>
            <a:r>
              <a:rPr lang="en-US" sz="2500" dirty="0" err="1">
                <a:solidFill>
                  <a:srgbClr val="000000"/>
                </a:solidFill>
                <a:latin typeface="+mj-lt"/>
              </a:rPr>
              <a:t>aktueller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 x-Position der Sweep-Line</a:t>
            </a:r>
          </a:p>
          <a:p>
            <a:pPr algn="ctr" defTabSz="457200">
              <a:lnSpc>
                <a:spcPct val="100000"/>
              </a:lnSpc>
              <a:defRPr/>
            </a:pPr>
            <a:r>
              <a:rPr lang="en-US" sz="2500" dirty="0" err="1">
                <a:solidFill>
                  <a:srgbClr val="000000"/>
                </a:solidFill>
                <a:latin typeface="+mj-lt"/>
              </a:rPr>
              <a:t>Definiert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500" dirty="0" err="1">
                <a:solidFill>
                  <a:srgbClr val="000000"/>
                </a:solidFill>
                <a:latin typeface="+mj-lt"/>
              </a:rPr>
              <a:t>Nachbarschaft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laceHolder 2">
                <a:extLst>
                  <a:ext uri="{FF2B5EF4-FFF2-40B4-BE49-F238E27FC236}">
                    <a16:creationId xmlns:a16="http://schemas.microsoft.com/office/drawing/2014/main" id="{A66DF7E8-ECE4-4CB7-B491-5AB688BC898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625336" y="2718408"/>
                <a:ext cx="4536504" cy="64807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>
                <a:lvl1pPr indent="0"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tabLst>
                    <a:tab pos="0" algn="l"/>
                  </a:tabLst>
                  <a:defRPr lang="de-DE" sz="4400" b="0" u="none" strike="noStrike" kern="1200">
                    <a:solidFill>
                      <a:schemeClr val="dk1"/>
                    </a:solidFill>
                    <a:latin typeface="Calibri Light"/>
                    <a:ea typeface="+mj-ea"/>
                    <a:cs typeface="+mj-cs"/>
                  </a:defRPr>
                </a:lvl1pPr>
              </a:lstStyle>
              <a:p>
                <a:pPr algn="ctr" defTabSz="45720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de-DE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de-DE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de-D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de-DE" sz="2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5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5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d>
                        <m:dPr>
                          <m:ctrlPr>
                            <a:rPr lang="de-DE" sz="2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DE" sz="25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5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sw</m:t>
                              </m:r>
                            </m:sub>
                          </m:sSub>
                        </m:e>
                      </m:d>
                      <m:r>
                        <a:rPr lang="de-DE" sz="25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de-DE" sz="2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5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5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de-DE" sz="25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25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25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5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sw</m:t>
                          </m:r>
                        </m:sub>
                      </m:sSub>
                      <m:r>
                        <a:rPr lang="de-DE" sz="2500" b="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PlaceHolder 2">
                <a:extLst>
                  <a:ext uri="{FF2B5EF4-FFF2-40B4-BE49-F238E27FC236}">
                    <a16:creationId xmlns:a16="http://schemas.microsoft.com/office/drawing/2014/main" id="{A66DF7E8-ECE4-4CB7-B491-5AB688BC8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5336" y="2718408"/>
                <a:ext cx="4536504" cy="6480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124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Orientierungstest (</a:t>
            </a:r>
            <a:r>
              <a:rPr lang="de-DE" dirty="0" err="1">
                <a:latin typeface="Calibri"/>
              </a:rPr>
              <a:t>ccw</a:t>
            </a:r>
            <a:r>
              <a:rPr lang="de-DE" dirty="0">
                <a:latin typeface="Calibri"/>
              </a:rPr>
              <a:t>)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PlaceHolder 2"/>
              <p:cNvSpPr>
                <a:spLocks noGrp="1"/>
              </p:cNvSpPr>
              <p:nvPr>
                <p:ph/>
              </p:nvPr>
            </p:nvSpPr>
            <p:spPr bwMode="auto">
              <a:xfrm>
                <a:off x="407368" y="1628800"/>
                <a:ext cx="11449272" cy="453650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algn="ctr" defTabSz="4572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Zwei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Segmente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schneiden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sich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genau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dann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,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wenn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ihre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Endpunkte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jeweils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auf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unterschiedlichen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Seiten der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Gegengrade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liegen</a:t>
                </a:r>
                <a:endParaRPr lang="en-US" sz="2500" dirty="0">
                  <a:solidFill>
                    <a:srgbClr val="000000"/>
                  </a:solidFill>
                  <a:latin typeface="+mj-lt"/>
                </a:endParaRPr>
              </a:p>
              <a:p>
                <a:pPr marL="342900" indent="-3429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endParaRPr lang="en-US" sz="2500" b="0" u="none" strike="noStrike" dirty="0">
                  <a:solidFill>
                    <a:srgbClr val="000000"/>
                  </a:solidFill>
                  <a:latin typeface="+mj-lt"/>
                </a:endParaRPr>
              </a:p>
              <a:p>
                <a:pPr marL="342900" indent="-3429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endParaRPr lang="en-US" sz="2500" b="0" u="none" strike="noStrike" dirty="0">
                  <a:solidFill>
                    <a:srgbClr val="000000"/>
                  </a:solidFill>
                  <a:latin typeface="+mj-lt"/>
                </a:endParaRPr>
              </a:p>
              <a:p>
                <a:pPr marL="342900" indent="-3429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endParaRPr lang="en-US" sz="2500" dirty="0">
                  <a:solidFill>
                    <a:srgbClr val="000000"/>
                  </a:solidFill>
                  <a:latin typeface="+mj-lt"/>
                </a:endParaRPr>
              </a:p>
              <a:p>
                <a:pPr marL="342900" indent="-3429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endParaRPr lang="en-US" sz="2500" b="0" u="none" strike="noStrike" dirty="0">
                  <a:solidFill>
                    <a:srgbClr val="000000"/>
                  </a:solidFill>
                  <a:latin typeface="+mj-lt"/>
                </a:endParaRPr>
              </a:p>
              <a:p>
                <a:pPr marL="342900" indent="-3429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endParaRPr lang="en-US" sz="2500" dirty="0">
                  <a:solidFill>
                    <a:srgbClr val="000000"/>
                  </a:solidFill>
                  <a:latin typeface="+mj-lt"/>
                </a:endParaRPr>
              </a:p>
              <a:p>
                <a:pPr algn="ctr" defTabSz="45720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ü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2 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𝑠𝑖𝑐h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𝑠𝑐h𝑛𝑒𝑖𝑑𝑒𝑛𝑑𝑒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𝑆𝑒𝑔𝑒𝑚𝑒𝑛𝑡𝑒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500" b="0" i="1" u="none" strike="noStrike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500" b="0" i="1" u="none" strike="noStrike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de-DE" sz="2500" b="0" i="1" u="none" strike="noStrike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u="none" strike="noStrike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𝑢𝑛𝑑</m:t>
                    </m:r>
                    <m:r>
                      <a:rPr lang="de-DE" sz="2500" b="0" i="1" u="none" strike="noStrike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u="none" strike="noStrike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500" b="0" i="1" u="none" strike="noStrike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5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5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5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𝐶𝐷</m:t>
                        </m:r>
                      </m:e>
                    </m:acc>
                    <m:r>
                      <a:rPr lang="de-DE" sz="25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𝑔𝑖𝑙𝑡</m:t>
                    </m:r>
                    <m:r>
                      <a:rPr lang="de-DE" sz="25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25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ctr" defTabSz="457200">
                  <a:lnSpc>
                    <a:spcPct val="100000"/>
                  </a:lnSpc>
                  <a:defRPr/>
                </a:pPr>
                <a:r>
                  <a:rPr lang="de-DE" sz="2500" i="1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ccw</a:t>
                </a:r>
                <a:r>
                  <a:rPr lang="de-DE" sz="25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(A,B,C) </a:t>
                </a:r>
                <a:r>
                  <a:rPr lang="de-DE" sz="25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∙ </a:t>
                </a:r>
                <a:r>
                  <a:rPr lang="de-DE" sz="2500" i="1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ccw</a:t>
                </a:r>
                <a:r>
                  <a:rPr lang="de-DE" sz="25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(A,B,D) &lt; 0 ∧  </a:t>
                </a:r>
                <a:r>
                  <a:rPr lang="de-DE" sz="2500" i="1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ccw</a:t>
                </a:r>
                <a:r>
                  <a:rPr lang="de-DE" sz="25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(C,D,A) ∙  </a:t>
                </a:r>
                <a:r>
                  <a:rPr lang="de-DE" sz="2500" i="1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ccw</a:t>
                </a:r>
                <a:r>
                  <a:rPr lang="de-DE" sz="25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(C,D,B) &lt; 0</a:t>
                </a:r>
                <a:endParaRPr lang="de-DE" sz="25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defTabSz="457200">
                  <a:lnSpc>
                    <a:spcPct val="100000"/>
                  </a:lnSpc>
                  <a:defRPr/>
                </a:pPr>
                <a:endParaRPr lang="de-DE" sz="25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defTabSz="45720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5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500" b="0" u="none" strike="noStrike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7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 bwMode="auto">
              <a:xfrm>
                <a:off x="407368" y="1628800"/>
                <a:ext cx="11449272" cy="4536504"/>
              </a:xfrm>
              <a:prstGeom prst="rect">
                <a:avLst/>
              </a:prstGeom>
              <a:blipFill>
                <a:blip r:embed="rId3"/>
                <a:stretch>
                  <a:fillRect t="-94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9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090F3EF-A0A3-4C94-AA1C-631D171B3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074" y="2862183"/>
            <a:ext cx="7001852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1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sz="4400" b="0" u="none" strike="noStrike" dirty="0">
                <a:solidFill>
                  <a:schemeClr val="dk1"/>
                </a:solidFill>
                <a:latin typeface="Calibri"/>
              </a:rPr>
              <a:t>Reporting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PlaceHolder 2"/>
              <p:cNvSpPr>
                <a:spLocks noGrp="1"/>
              </p:cNvSpPr>
              <p:nvPr>
                <p:ph/>
              </p:nvPr>
            </p:nvSpPr>
            <p:spPr bwMode="auto">
              <a:xfrm>
                <a:off x="407368" y="1556792"/>
                <a:ext cx="11449272" cy="453650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Gesucht: Alle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Schnittpunkte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Shamos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-Hoey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löst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das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Entscheidungsproblem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14:m>
                  <m:oMath xmlns:m="http://schemas.openxmlformats.org/officeDocument/2006/math"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𝑀𝑒𝑛𝑔𝑒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𝑎𝑙𝑙𝑒𝑟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𝑆𝑐h𝑛𝑖𝑡𝑡𝑝𝑢𝑛𝑘𝑡𝑒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DE" sz="2500" b="0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endParaRPr lang="de-DE" sz="2500" b="0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endParaRPr lang="de-DE" sz="2500" b="0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14:m>
                  <m:oMath xmlns:m="http://schemas.openxmlformats.org/officeDocument/2006/math"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𝑖𝑠𝑡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𝑑𝑖𝑒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𝐴𝑛𝑧𝑎h𝑙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𝑎𝑙𝑙𝑒𝑟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𝑆𝑐h𝑛𝑖𝑡𝑡𝑝𝑢𝑛𝑘𝑡𝑒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DE" sz="2500" b="0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Worst Case: </a:t>
                </a:r>
                <a14:m>
                  <m:oMath xmlns:m="http://schemas.openxmlformats.org/officeDocument/2006/math"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50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7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 bwMode="auto">
              <a:xfrm>
                <a:off x="407368" y="1556792"/>
                <a:ext cx="11449272" cy="4536504"/>
              </a:xfrm>
              <a:prstGeom prst="rect">
                <a:avLst/>
              </a:prstGeom>
              <a:blipFill>
                <a:blip r:embed="rId3"/>
                <a:stretch>
                  <a:fillRect l="-799" t="-94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10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D86F3ED-8531-4FDC-B4DE-4F4B82323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80" y="2913679"/>
            <a:ext cx="5762625" cy="504825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0D89F80-9C13-4616-8362-E0B5043030CF}"/>
              </a:ext>
            </a:extLst>
          </p:cNvPr>
          <p:cNvCxnSpPr/>
          <p:nvPr/>
        </p:nvCxnSpPr>
        <p:spPr>
          <a:xfrm>
            <a:off x="7752184" y="1988840"/>
            <a:ext cx="2880320" cy="1836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C451389-3760-4220-8429-57014E2E2865}"/>
              </a:ext>
            </a:extLst>
          </p:cNvPr>
          <p:cNvCxnSpPr/>
          <p:nvPr/>
        </p:nvCxnSpPr>
        <p:spPr>
          <a:xfrm flipH="1">
            <a:off x="7674212" y="2852936"/>
            <a:ext cx="2814276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8A2B98B-5DD5-4CC3-95F6-0DBD429E6AFF}"/>
              </a:ext>
            </a:extLst>
          </p:cNvPr>
          <p:cNvCxnSpPr/>
          <p:nvPr/>
        </p:nvCxnSpPr>
        <p:spPr>
          <a:xfrm>
            <a:off x="7608168" y="2996952"/>
            <a:ext cx="1656184" cy="936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DB96A0C8-DE9C-42E6-8F1D-216E4C1C16C6}"/>
              </a:ext>
            </a:extLst>
          </p:cNvPr>
          <p:cNvSpPr/>
          <p:nvPr/>
        </p:nvSpPr>
        <p:spPr>
          <a:xfrm>
            <a:off x="8364252" y="341850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CB3E8AA-EFD3-49DF-A12E-6F52ABAECD7E}"/>
              </a:ext>
            </a:extLst>
          </p:cNvPr>
          <p:cNvSpPr/>
          <p:nvPr/>
        </p:nvSpPr>
        <p:spPr bwMode="auto">
          <a:xfrm>
            <a:off x="9480376" y="306375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6F1B958-5509-4689-AB75-6470F38000C7}"/>
              </a:ext>
            </a:extLst>
          </p:cNvPr>
          <p:cNvSpPr/>
          <p:nvPr/>
        </p:nvSpPr>
        <p:spPr bwMode="auto">
          <a:xfrm>
            <a:off x="7621986" y="3668205"/>
            <a:ext cx="144016" cy="1440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65B9265F-8611-4014-8419-514813D762AA}"/>
              </a:ext>
            </a:extLst>
          </p:cNvPr>
          <p:cNvSpPr/>
          <p:nvPr/>
        </p:nvSpPr>
        <p:spPr bwMode="auto">
          <a:xfrm>
            <a:off x="7543069" y="2939610"/>
            <a:ext cx="144016" cy="1440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32F681C-5C62-4A72-A64D-F324D495DF4C}"/>
              </a:ext>
            </a:extLst>
          </p:cNvPr>
          <p:cNvSpPr/>
          <p:nvPr/>
        </p:nvSpPr>
        <p:spPr bwMode="auto">
          <a:xfrm>
            <a:off x="7693994" y="1916832"/>
            <a:ext cx="144016" cy="1440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0F9BCAB-735E-4C6D-B67B-3D5954AE0524}"/>
              </a:ext>
            </a:extLst>
          </p:cNvPr>
          <p:cNvSpPr/>
          <p:nvPr/>
        </p:nvSpPr>
        <p:spPr bwMode="auto">
          <a:xfrm>
            <a:off x="10481579" y="3704628"/>
            <a:ext cx="144016" cy="1440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563F1AB-85F6-47B3-A306-F25C7B441329}"/>
              </a:ext>
            </a:extLst>
          </p:cNvPr>
          <p:cNvSpPr/>
          <p:nvPr/>
        </p:nvSpPr>
        <p:spPr bwMode="auto">
          <a:xfrm>
            <a:off x="10422444" y="2762926"/>
            <a:ext cx="144016" cy="1440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7B897F1C-71C9-4FCE-BD10-491130DB3A27}"/>
              </a:ext>
            </a:extLst>
          </p:cNvPr>
          <p:cNvCxnSpPr>
            <a:cxnSpLocks/>
          </p:cNvCxnSpPr>
          <p:nvPr/>
        </p:nvCxnSpPr>
        <p:spPr>
          <a:xfrm>
            <a:off x="8391772" y="1674185"/>
            <a:ext cx="54006" cy="34563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Ellipse 17">
            <a:extLst>
              <a:ext uri="{FF2B5EF4-FFF2-40B4-BE49-F238E27FC236}">
                <a16:creationId xmlns:a16="http://schemas.microsoft.com/office/drawing/2014/main" id="{0FEBFF0A-40DD-4A46-83B6-DA9EA0BF3F9A}"/>
              </a:ext>
            </a:extLst>
          </p:cNvPr>
          <p:cNvSpPr/>
          <p:nvPr/>
        </p:nvSpPr>
        <p:spPr bwMode="auto">
          <a:xfrm>
            <a:off x="9238853" y="3882386"/>
            <a:ext cx="144016" cy="14401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273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Schnittpunktberechnung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500" i="1" dirty="0" err="1">
                <a:solidFill>
                  <a:srgbClr val="000000"/>
                </a:solidFill>
                <a:latin typeface="+mj-lt"/>
              </a:rPr>
              <a:t>Keine</a:t>
            </a:r>
            <a:r>
              <a:rPr lang="en-US" sz="25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500" i="1" dirty="0" err="1">
                <a:solidFill>
                  <a:srgbClr val="000000"/>
                </a:solidFill>
                <a:latin typeface="+mj-lt"/>
              </a:rPr>
              <a:t>Steigung</a:t>
            </a:r>
            <a:endParaRPr lang="en-US" sz="2500" i="1" dirty="0">
              <a:solidFill>
                <a:srgbClr val="000000"/>
              </a:solidFill>
              <a:latin typeface="+mj-lt"/>
            </a:endParaRPr>
          </a:p>
          <a:p>
            <a:pPr marL="342900" indent="-34290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500" i="1" dirty="0" err="1">
                <a:solidFill>
                  <a:srgbClr val="000000"/>
                </a:solidFill>
                <a:latin typeface="+mj-lt"/>
              </a:rPr>
              <a:t>Numerische</a:t>
            </a:r>
            <a:r>
              <a:rPr lang="en-US" sz="25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500" i="1" dirty="0" err="1">
                <a:solidFill>
                  <a:srgbClr val="000000"/>
                </a:solidFill>
                <a:latin typeface="+mj-lt"/>
              </a:rPr>
              <a:t>Stabilität</a:t>
            </a:r>
            <a:r>
              <a:rPr lang="en-US" sz="25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500" i="1" dirty="0" err="1">
                <a:solidFill>
                  <a:srgbClr val="000000"/>
                </a:solidFill>
                <a:latin typeface="+mj-lt"/>
              </a:rPr>
              <a:t>bei</a:t>
            </a:r>
            <a:r>
              <a:rPr lang="en-US" sz="2500" i="1" dirty="0">
                <a:solidFill>
                  <a:srgbClr val="000000"/>
                </a:solidFill>
                <a:latin typeface="+mj-lt"/>
              </a:rPr>
              <a:t> fast </a:t>
            </a:r>
            <a:r>
              <a:rPr lang="en-US" sz="2500" i="1" dirty="0" err="1">
                <a:solidFill>
                  <a:srgbClr val="000000"/>
                </a:solidFill>
                <a:latin typeface="+mj-lt"/>
              </a:rPr>
              <a:t>vertikalen</a:t>
            </a:r>
            <a:r>
              <a:rPr lang="en-US" sz="25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2500" i="1" dirty="0" err="1">
                <a:solidFill>
                  <a:srgbClr val="000000"/>
                </a:solidFill>
                <a:latin typeface="+mj-lt"/>
              </a:rPr>
              <a:t>Segmenten</a:t>
            </a:r>
            <a:endParaRPr lang="en-US" sz="2500" b="0" i="1" u="none" strike="noStrike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8117377-4FC5-46E8-96B5-C9D7EA6E8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2699432"/>
            <a:ext cx="7289012" cy="227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78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Bentley-Ottmann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Erweiterung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Fügt Schnittpunkt-Events hinzu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Dynamische Event-Erzeugung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Jeder Schnittpunkt genau einmal</a:t>
            </a:r>
            <a:endParaRPr lang="en-US" sz="2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12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9EC05FA-33A0-45A4-B15C-37048FEFA2CB}"/>
              </a:ext>
            </a:extLst>
          </p:cNvPr>
          <p:cNvSpPr/>
          <p:nvPr/>
        </p:nvSpPr>
        <p:spPr>
          <a:xfrm>
            <a:off x="391033" y="4202104"/>
            <a:ext cx="619268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3B623ED-3318-435F-BEA3-F43EDEC364F4}"/>
              </a:ext>
            </a:extLst>
          </p:cNvPr>
          <p:cNvSpPr/>
          <p:nvPr/>
        </p:nvSpPr>
        <p:spPr bwMode="auto">
          <a:xfrm>
            <a:off x="1412085" y="4202104"/>
            <a:ext cx="517163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9ADD737-76F8-40FF-BB5E-2A880946343D}"/>
              </a:ext>
            </a:extLst>
          </p:cNvPr>
          <p:cNvSpPr/>
          <p:nvPr/>
        </p:nvSpPr>
        <p:spPr bwMode="auto">
          <a:xfrm>
            <a:off x="2437078" y="4202104"/>
            <a:ext cx="4146643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9AF7713-E61E-4789-9E7A-13866D922A1C}"/>
              </a:ext>
            </a:extLst>
          </p:cNvPr>
          <p:cNvSpPr/>
          <p:nvPr/>
        </p:nvSpPr>
        <p:spPr bwMode="auto">
          <a:xfrm>
            <a:off x="3462071" y="4205314"/>
            <a:ext cx="3121650" cy="57285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0ED413E-DEEF-496E-B092-07E5748C4ACC}"/>
              </a:ext>
            </a:extLst>
          </p:cNvPr>
          <p:cNvSpPr/>
          <p:nvPr/>
        </p:nvSpPr>
        <p:spPr bwMode="auto">
          <a:xfrm>
            <a:off x="4482549" y="4208524"/>
            <a:ext cx="2101172" cy="5696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1E04A35-60A5-4EA0-82CD-4800ADAB5AA3}"/>
              </a:ext>
            </a:extLst>
          </p:cNvPr>
          <p:cNvSpPr/>
          <p:nvPr/>
        </p:nvSpPr>
        <p:spPr bwMode="auto">
          <a:xfrm>
            <a:off x="5503601" y="4208524"/>
            <a:ext cx="1080120" cy="56964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0BAD25E-AD0A-4823-91A5-72424AA977F2}"/>
                  </a:ext>
                </a:extLst>
              </p:cNvPr>
              <p:cNvSpPr txBox="1"/>
              <p:nvPr/>
            </p:nvSpPr>
            <p:spPr bwMode="auto">
              <a:xfrm>
                <a:off x="496205" y="4307958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(3,3)</m:t>
                      </m:r>
                    </m:oMath>
                  </m:oMathPara>
                </a14:m>
                <a:endParaRPr lang="de-DE" sz="1500" i="1" dirty="0"/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0BAD25E-AD0A-4823-91A5-72424AA97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205" y="4307958"/>
                <a:ext cx="805028" cy="323165"/>
              </a:xfrm>
              <a:prstGeom prst="rect">
                <a:avLst/>
              </a:prstGeom>
              <a:blipFill>
                <a:blip r:embed="rId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2A313119-01AE-49F8-BBD3-672B90136EEC}"/>
                  </a:ext>
                </a:extLst>
              </p:cNvPr>
              <p:cNvSpPr txBox="1"/>
              <p:nvPr/>
            </p:nvSpPr>
            <p:spPr bwMode="auto">
              <a:xfrm>
                <a:off x="2536977" y="4321519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(5,4)</m:t>
                      </m:r>
                    </m:oMath>
                  </m:oMathPara>
                </a14:m>
                <a:endParaRPr lang="de-DE" sz="1500" i="1" dirty="0"/>
              </a:p>
            </p:txBody>
          </p:sp>
        </mc:Choice>
        <mc:Fallback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2A313119-01AE-49F8-BBD3-672B90136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6977" y="4321519"/>
                <a:ext cx="805028" cy="323165"/>
              </a:xfrm>
              <a:prstGeom prst="rect">
                <a:avLst/>
              </a:prstGeom>
              <a:blipFill>
                <a:blip r:embed="rId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09E867F1-9401-4AC0-9C5D-34E86F5E3492}"/>
                  </a:ext>
                </a:extLst>
              </p:cNvPr>
              <p:cNvSpPr txBox="1"/>
              <p:nvPr/>
            </p:nvSpPr>
            <p:spPr bwMode="auto">
              <a:xfrm>
                <a:off x="3595389" y="4334973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(6,0)</m:t>
                      </m:r>
                    </m:oMath>
                  </m:oMathPara>
                </a14:m>
                <a:endParaRPr lang="de-DE" sz="1500" i="1" dirty="0"/>
              </a:p>
            </p:txBody>
          </p:sp>
        </mc:Choice>
        <mc:Fallback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09E867F1-9401-4AC0-9C5D-34E86F5E3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5389" y="4334973"/>
                <a:ext cx="805028" cy="323165"/>
              </a:xfrm>
              <a:prstGeom prst="rect">
                <a:avLst/>
              </a:prstGeom>
              <a:blipFill>
                <a:blip r:embed="rId5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feld 36">
            <a:extLst>
              <a:ext uri="{FF2B5EF4-FFF2-40B4-BE49-F238E27FC236}">
                <a16:creationId xmlns:a16="http://schemas.microsoft.com/office/drawing/2014/main" id="{8EB0056D-0B8B-4D77-9C44-7476A3EF9C30}"/>
              </a:ext>
            </a:extLst>
          </p:cNvPr>
          <p:cNvSpPr txBox="1"/>
          <p:nvPr/>
        </p:nvSpPr>
        <p:spPr bwMode="auto">
          <a:xfrm>
            <a:off x="5641147" y="4334973"/>
            <a:ext cx="8050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00" i="1" dirty="0"/>
              <a:t>…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13C25AA-0370-455E-AB03-ADA9121F27F2}"/>
              </a:ext>
            </a:extLst>
          </p:cNvPr>
          <p:cNvSpPr txBox="1"/>
          <p:nvPr/>
        </p:nvSpPr>
        <p:spPr>
          <a:xfrm>
            <a:off x="1713277" y="3838740"/>
            <a:ext cx="348704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00" i="1" dirty="0">
                <a:latin typeface="+mj-lt"/>
              </a:rPr>
              <a:t>Dynamische Prioritätswarteschlange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BE4CB3D0-6307-4209-9109-35031744FBEC}"/>
              </a:ext>
            </a:extLst>
          </p:cNvPr>
          <p:cNvSpPr/>
          <p:nvPr/>
        </p:nvSpPr>
        <p:spPr bwMode="auto">
          <a:xfrm>
            <a:off x="2798060" y="4913154"/>
            <a:ext cx="240946" cy="2400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522A8410-263A-4746-A6B2-4C21AE226B96}"/>
              </a:ext>
            </a:extLst>
          </p:cNvPr>
          <p:cNvSpPr/>
          <p:nvPr/>
        </p:nvSpPr>
        <p:spPr bwMode="auto">
          <a:xfrm>
            <a:off x="3828251" y="4898127"/>
            <a:ext cx="240946" cy="2400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CC3E758B-9199-465C-9584-AAC377EA7DA9}"/>
              </a:ext>
            </a:extLst>
          </p:cNvPr>
          <p:cNvSpPr/>
          <p:nvPr/>
        </p:nvSpPr>
        <p:spPr bwMode="auto">
          <a:xfrm>
            <a:off x="725999" y="4894347"/>
            <a:ext cx="240946" cy="2400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4" name="Grafik 53">
            <a:extLst>
              <a:ext uri="{FF2B5EF4-FFF2-40B4-BE49-F238E27FC236}">
                <a16:creationId xmlns:a16="http://schemas.microsoft.com/office/drawing/2014/main" id="{A8BDDF3F-7879-4F92-BF3B-0699B7771C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490" y="768544"/>
            <a:ext cx="5087598" cy="4417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CA9DFA63-3F96-4484-810F-AB6FFFE66FD9}"/>
                  </a:ext>
                </a:extLst>
              </p:cNvPr>
              <p:cNvSpPr txBox="1"/>
              <p:nvPr/>
            </p:nvSpPr>
            <p:spPr bwMode="auto">
              <a:xfrm>
                <a:off x="7176120" y="2722339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500" b="0" i="1" dirty="0"/>
              </a:p>
            </p:txBody>
          </p:sp>
        </mc:Choice>
        <mc:Fallback xmlns="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CA9DFA63-3F96-4484-810F-AB6FFFE66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76120" y="2722339"/>
                <a:ext cx="805028" cy="3231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9E9810B7-D4A7-4B18-9100-90C2C7C4776B}"/>
                  </a:ext>
                </a:extLst>
              </p:cNvPr>
              <p:cNvSpPr txBox="1"/>
              <p:nvPr/>
            </p:nvSpPr>
            <p:spPr bwMode="auto">
              <a:xfrm>
                <a:off x="7754623" y="1468890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500" b="0" i="1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9E9810B7-D4A7-4B18-9100-90C2C7C47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4623" y="1468890"/>
                <a:ext cx="805028" cy="323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4870FDC0-433E-45CF-BC3E-D14A351CAEEF}"/>
                  </a:ext>
                </a:extLst>
              </p:cNvPr>
              <p:cNvSpPr txBox="1"/>
              <p:nvPr/>
            </p:nvSpPr>
            <p:spPr bwMode="auto">
              <a:xfrm>
                <a:off x="8400256" y="852531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1500" b="0" i="1" dirty="0"/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4870FDC0-433E-45CF-BC3E-D14A351CA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00256" y="852531"/>
                <a:ext cx="805028" cy="3231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01F8203C-F778-420B-B010-E2ECB6E14D8B}"/>
                  </a:ext>
                </a:extLst>
              </p:cNvPr>
              <p:cNvSpPr txBox="1"/>
              <p:nvPr/>
            </p:nvSpPr>
            <p:spPr bwMode="auto">
              <a:xfrm>
                <a:off x="1473946" y="4320615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(4.2</m:t>
                      </m:r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3.6</m:t>
                      </m:r>
                      <m:r>
                        <a:rPr lang="de-DE" sz="1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1500" i="1" dirty="0"/>
              </a:p>
            </p:txBody>
          </p:sp>
        </mc:Choice>
        <mc:Fallback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01F8203C-F778-420B-B010-E2ECB6E14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3946" y="4320615"/>
                <a:ext cx="805028" cy="323165"/>
              </a:xfrm>
              <a:prstGeom prst="rect">
                <a:avLst/>
              </a:prstGeom>
              <a:blipFill>
                <a:blip r:embed="rId12"/>
                <a:stretch>
                  <a:fillRect r="-9091" b="-94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feld 28">
            <a:extLst>
              <a:ext uri="{FF2B5EF4-FFF2-40B4-BE49-F238E27FC236}">
                <a16:creationId xmlns:a16="http://schemas.microsoft.com/office/drawing/2014/main" id="{E740CAF5-2B29-4E75-9F3B-51B63F127094}"/>
              </a:ext>
            </a:extLst>
          </p:cNvPr>
          <p:cNvSpPr txBox="1"/>
          <p:nvPr/>
        </p:nvSpPr>
        <p:spPr bwMode="auto">
          <a:xfrm>
            <a:off x="4596684" y="4250614"/>
            <a:ext cx="8050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00" i="1" dirty="0"/>
              <a:t>…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B64AA81-12AD-455E-9A9B-04521E676E8C}"/>
              </a:ext>
            </a:extLst>
          </p:cNvPr>
          <p:cNvSpPr/>
          <p:nvPr/>
        </p:nvSpPr>
        <p:spPr bwMode="auto">
          <a:xfrm>
            <a:off x="1767468" y="4894347"/>
            <a:ext cx="240946" cy="24001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217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Algorithmus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13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1CB44FC-5B44-4600-8ED2-A7E8C0061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992" y="1605080"/>
            <a:ext cx="5324475" cy="4429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A24DF2D-265A-495C-AA8F-82F73A8F9389}"/>
                  </a:ext>
                </a:extLst>
              </p:cNvPr>
              <p:cNvSpPr txBox="1"/>
              <p:nvPr/>
            </p:nvSpPr>
            <p:spPr bwMode="auto">
              <a:xfrm>
                <a:off x="7144154" y="3539597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500" b="0" i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A24DF2D-265A-495C-AA8F-82F73A8F9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4154" y="3539597"/>
                <a:ext cx="805028" cy="323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63E01DC-0EF4-4790-BF8F-30158A565608}"/>
                  </a:ext>
                </a:extLst>
              </p:cNvPr>
              <p:cNvSpPr txBox="1"/>
              <p:nvPr/>
            </p:nvSpPr>
            <p:spPr bwMode="auto">
              <a:xfrm>
                <a:off x="7575392" y="2394219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1500" b="0" i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63E01DC-0EF4-4790-BF8F-30158A565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5392" y="2394219"/>
                <a:ext cx="805028" cy="323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5AE82B3-1A9F-46F1-BC31-58077DD5DFF6}"/>
                  </a:ext>
                </a:extLst>
              </p:cNvPr>
              <p:cNvSpPr txBox="1"/>
              <p:nvPr/>
            </p:nvSpPr>
            <p:spPr bwMode="auto">
              <a:xfrm>
                <a:off x="8303201" y="1690895"/>
                <a:ext cx="8050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1500" b="0" i="1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5AE82B3-1A9F-46F1-BC31-58077DD5D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3201" y="1690895"/>
                <a:ext cx="805028" cy="323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E8A10993-0C27-4E97-B772-83DE1238FD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493" y="1494757"/>
            <a:ext cx="5544492" cy="464342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2CE46CF4-42F1-47D2-9B2E-28653FEA91DF}"/>
              </a:ext>
            </a:extLst>
          </p:cNvPr>
          <p:cNvSpPr/>
          <p:nvPr/>
        </p:nvSpPr>
        <p:spPr>
          <a:xfrm>
            <a:off x="407368" y="2204864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FF94B21-7F21-4A2D-BE9B-899E874AC7E4}"/>
              </a:ext>
            </a:extLst>
          </p:cNvPr>
          <p:cNvSpPr/>
          <p:nvPr/>
        </p:nvSpPr>
        <p:spPr bwMode="auto">
          <a:xfrm>
            <a:off x="407367" y="2394219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1F0B30D-34BA-43C5-8FA3-5087136124E0}"/>
              </a:ext>
            </a:extLst>
          </p:cNvPr>
          <p:cNvSpPr/>
          <p:nvPr/>
        </p:nvSpPr>
        <p:spPr bwMode="auto">
          <a:xfrm>
            <a:off x="407367" y="2554778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81E81E5-4625-4DEB-8609-AFBA7B20992A}"/>
              </a:ext>
            </a:extLst>
          </p:cNvPr>
          <p:cNvSpPr/>
          <p:nvPr/>
        </p:nvSpPr>
        <p:spPr bwMode="auto">
          <a:xfrm>
            <a:off x="407366" y="2718408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7166970-66FB-4ECE-98FE-7404DBC59F1E}"/>
              </a:ext>
            </a:extLst>
          </p:cNvPr>
          <p:cNvSpPr/>
          <p:nvPr/>
        </p:nvSpPr>
        <p:spPr bwMode="auto">
          <a:xfrm>
            <a:off x="407366" y="2895611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045A7745-1133-42CF-A2C3-BADAAB796FE8}"/>
              </a:ext>
            </a:extLst>
          </p:cNvPr>
          <p:cNvSpPr/>
          <p:nvPr/>
        </p:nvSpPr>
        <p:spPr bwMode="auto">
          <a:xfrm>
            <a:off x="407366" y="3070453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7DBA860-6365-49CD-A53E-9621BAEE7498}"/>
              </a:ext>
            </a:extLst>
          </p:cNvPr>
          <p:cNvSpPr/>
          <p:nvPr/>
        </p:nvSpPr>
        <p:spPr bwMode="auto">
          <a:xfrm>
            <a:off x="407366" y="3231952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F9DC5F0-36BC-4F7D-A899-DA253DBB06B6}"/>
              </a:ext>
            </a:extLst>
          </p:cNvPr>
          <p:cNvSpPr/>
          <p:nvPr/>
        </p:nvSpPr>
        <p:spPr bwMode="auto">
          <a:xfrm>
            <a:off x="407365" y="3393451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6D87FC46-3EAB-4799-87DC-16E04EAB17DB}"/>
              </a:ext>
            </a:extLst>
          </p:cNvPr>
          <p:cNvSpPr/>
          <p:nvPr/>
        </p:nvSpPr>
        <p:spPr bwMode="auto">
          <a:xfrm>
            <a:off x="407364" y="3554010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54DE384B-5589-4323-91B3-70B64B5B94C3}"/>
              </a:ext>
            </a:extLst>
          </p:cNvPr>
          <p:cNvSpPr/>
          <p:nvPr/>
        </p:nvSpPr>
        <p:spPr bwMode="auto">
          <a:xfrm>
            <a:off x="407364" y="3733805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57BC92F-4A63-4496-8B58-740D238641DB}"/>
              </a:ext>
            </a:extLst>
          </p:cNvPr>
          <p:cNvSpPr/>
          <p:nvPr/>
        </p:nvSpPr>
        <p:spPr bwMode="auto">
          <a:xfrm>
            <a:off x="410190" y="3890351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40AD9A6-084C-4FC6-981E-C24BE5475A3C}"/>
              </a:ext>
            </a:extLst>
          </p:cNvPr>
          <p:cNvSpPr/>
          <p:nvPr/>
        </p:nvSpPr>
        <p:spPr bwMode="auto">
          <a:xfrm>
            <a:off x="407364" y="4052534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C3C694BB-0748-41C2-9F80-7D4DD146E16B}"/>
              </a:ext>
            </a:extLst>
          </p:cNvPr>
          <p:cNvSpPr/>
          <p:nvPr/>
        </p:nvSpPr>
        <p:spPr bwMode="auto">
          <a:xfrm>
            <a:off x="407364" y="4236197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A8679F9F-8DF0-4AE3-AD05-DCEA0417AABD}"/>
              </a:ext>
            </a:extLst>
          </p:cNvPr>
          <p:cNvSpPr/>
          <p:nvPr/>
        </p:nvSpPr>
        <p:spPr bwMode="auto">
          <a:xfrm>
            <a:off x="407364" y="4403895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501726E6-9EF3-4AA4-855A-4893541B31B5}"/>
              </a:ext>
            </a:extLst>
          </p:cNvPr>
          <p:cNvSpPr/>
          <p:nvPr/>
        </p:nvSpPr>
        <p:spPr bwMode="auto">
          <a:xfrm>
            <a:off x="407364" y="4572095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C6907B7-2397-4809-A2C6-D5B9371D4D7D}"/>
              </a:ext>
            </a:extLst>
          </p:cNvPr>
          <p:cNvSpPr/>
          <p:nvPr/>
        </p:nvSpPr>
        <p:spPr bwMode="auto">
          <a:xfrm>
            <a:off x="405870" y="4735205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D66C4483-67F3-427E-BD26-D706140A9E26}"/>
              </a:ext>
            </a:extLst>
          </p:cNvPr>
          <p:cNvSpPr/>
          <p:nvPr/>
        </p:nvSpPr>
        <p:spPr bwMode="auto">
          <a:xfrm>
            <a:off x="405869" y="4896704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3278D81B-BB35-4D43-931C-06CC7B1E0B45}"/>
              </a:ext>
            </a:extLst>
          </p:cNvPr>
          <p:cNvSpPr/>
          <p:nvPr/>
        </p:nvSpPr>
        <p:spPr bwMode="auto">
          <a:xfrm>
            <a:off x="405869" y="5069377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E578EE04-5194-4B78-A7B1-7046F14EAA83}"/>
              </a:ext>
            </a:extLst>
          </p:cNvPr>
          <p:cNvSpPr/>
          <p:nvPr/>
        </p:nvSpPr>
        <p:spPr bwMode="auto">
          <a:xfrm>
            <a:off x="405869" y="5233601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E9466E82-1240-4D52-A62A-4BAA70179266}"/>
              </a:ext>
            </a:extLst>
          </p:cNvPr>
          <p:cNvSpPr/>
          <p:nvPr/>
        </p:nvSpPr>
        <p:spPr bwMode="auto">
          <a:xfrm>
            <a:off x="405869" y="5405295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CD8A4FAF-C7F3-431F-9AC3-3C5820E5A9C3}"/>
              </a:ext>
            </a:extLst>
          </p:cNvPr>
          <p:cNvSpPr/>
          <p:nvPr/>
        </p:nvSpPr>
        <p:spPr bwMode="auto">
          <a:xfrm>
            <a:off x="405869" y="5574949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D304B0A-A3BB-4FD9-BA6F-7E5423B1F220}"/>
              </a:ext>
            </a:extLst>
          </p:cNvPr>
          <p:cNvSpPr/>
          <p:nvPr/>
        </p:nvSpPr>
        <p:spPr bwMode="auto">
          <a:xfrm>
            <a:off x="405869" y="5736605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AF2575CF-E295-4B8C-80F7-422EB38F33D9}"/>
              </a:ext>
            </a:extLst>
          </p:cNvPr>
          <p:cNvSpPr/>
          <p:nvPr/>
        </p:nvSpPr>
        <p:spPr bwMode="auto">
          <a:xfrm>
            <a:off x="405869" y="5898104"/>
            <a:ext cx="64935" cy="720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290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Laufzeitanalyse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14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55B89AC-8918-4282-8660-5820E98936AF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 bwMode="auto">
          <a:xfrm>
            <a:off x="477976" y="1484784"/>
            <a:ext cx="5415612" cy="45354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724E275-3045-4DF2-AD6A-C3A0FA68ED21}"/>
                  </a:ext>
                </a:extLst>
              </p:cNvPr>
              <p:cNvSpPr txBox="1"/>
              <p:nvPr/>
            </p:nvSpPr>
            <p:spPr>
              <a:xfrm>
                <a:off x="5814774" y="3504577"/>
                <a:ext cx="4104456" cy="1348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de-DE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de-DE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𝑔𝑒𝑠𝑎𝑚𝑡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func>
                        <m:func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000" dirty="0"/>
              </a:p>
              <a:p>
                <a:endParaRPr lang="de-DE" sz="2000" dirty="0"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724E275-3045-4DF2-AD6A-C3A0FA68E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774" y="3504577"/>
                <a:ext cx="4104456" cy="13483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B0D6C43-67B3-4C6E-8AA5-DD6EB405AA33}"/>
                  </a:ext>
                </a:extLst>
              </p:cNvPr>
              <p:cNvSpPr txBox="1"/>
              <p:nvPr/>
            </p:nvSpPr>
            <p:spPr bwMode="auto">
              <a:xfrm>
                <a:off x="5814774" y="1466176"/>
                <a:ext cx="410445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de-DE" sz="2000" b="0" dirty="0">
                    <a:latin typeface="Cambria Math" panose="02040503050406030204" pitchFamily="18" charset="0"/>
                  </a:rPr>
                  <a:t>Notation:</a:t>
                </a:r>
              </a:p>
              <a:p>
                <a:pPr/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sz="2000" b="0" i="1" dirty="0">
                    <a:latin typeface="Cambria Math" panose="02040503050406030204" pitchFamily="18" charset="0"/>
                  </a:rPr>
                  <a:t> = </a:t>
                </a:r>
                <a:r>
                  <a:rPr lang="de-DE" sz="2000" b="0" dirty="0">
                    <a:latin typeface="Cambria Math" panose="02040503050406030204" pitchFamily="18" charset="0"/>
                  </a:rPr>
                  <a:t>Anzahl der Segmente</a:t>
                </a:r>
              </a:p>
              <a:p>
                <a:pPr/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sz="2000" dirty="0">
                    <a:latin typeface="Cambria Math" panose="02040503050406030204" pitchFamily="18" charset="0"/>
                  </a:rPr>
                  <a:t> = Anzahl der Schnittpunkte</a:t>
                </a:r>
              </a:p>
              <a:p>
                <a:pPr/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de-DE" sz="2000" b="0" dirty="0">
                    <a:latin typeface="Cambria Math" panose="02040503050406030204" pitchFamily="18" charset="0"/>
                  </a:rPr>
                  <a:t> = Menge aller Events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Priorit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ä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tswarteschlange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sz="2000" b="0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blanacierter</m:t>
                      </m:r>
                      <m:r>
                        <a:rPr lang="de-DE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latin typeface="Cambria Math" panose="02040503050406030204" pitchFamily="18" charset="0"/>
                        </a:rPr>
                        <m:t>Suchbaum</m:t>
                      </m:r>
                    </m:oMath>
                  </m:oMathPara>
                </a14:m>
                <a:endParaRPr lang="de-DE" sz="2000" b="0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B0D6C43-67B3-4C6E-8AA5-DD6EB405A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4774" y="1466176"/>
                <a:ext cx="4104456" cy="1938992"/>
              </a:xfrm>
              <a:prstGeom prst="rect">
                <a:avLst/>
              </a:prstGeom>
              <a:blipFill>
                <a:blip r:embed="rId5"/>
                <a:stretch>
                  <a:fillRect l="-1634" t="-18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759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 "/>
              </a:rPr>
              <a:t>Praxis &amp; Spezialisierungen</a:t>
            </a:r>
            <a:endParaRPr lang="de-DE" sz="4400" b="0" u="none" strike="noStrike" dirty="0">
              <a:solidFill>
                <a:schemeClr val="dk1"/>
              </a:solidFill>
              <a:latin typeface="Calibri 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PlaceHolder 2"/>
              <p:cNvSpPr>
                <a:spLocks noGrp="1"/>
              </p:cNvSpPr>
              <p:nvPr>
                <p:ph/>
              </p:nvPr>
            </p:nvSpPr>
            <p:spPr bwMode="auto">
              <a:xfrm>
                <a:off x="407368" y="1556792"/>
                <a:ext cx="11449272" cy="453650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b="0" u="none" strike="noStrike" dirty="0">
                    <a:solidFill>
                      <a:srgbClr val="000000"/>
                    </a:solidFill>
                    <a:latin typeface="Arial"/>
                  </a:rPr>
                  <a:t>Allgemein: </a:t>
                </a:r>
                <a14:m>
                  <m:oMath xmlns:m="http://schemas.openxmlformats.org/officeDocument/2006/math"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2500" b="0" i="1" u="none" strike="noStrik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func>
                          <m:funcPr>
                            <m:ctrlP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2500" b="0" i="0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sz="2500" b="0" i="1" u="none" strike="noStrike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500" b="0" i="1" u="none" strike="noStrike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de-DE" sz="2500" b="0" u="none" strike="noStrike" dirty="0">
                  <a:solidFill>
                    <a:srgbClr val="000000"/>
                  </a:solidFill>
                  <a:latin typeface="Arial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Arial"/>
                  </a:rPr>
                  <a:t>Spezialfall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: </a:t>
                </a: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Orthogonale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Segmente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 </a:t>
                </a: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Nur </a:t>
                </a:r>
                <a14:m>
                  <m:oMath xmlns:m="http://schemas.openxmlformats.org/officeDocument/2006/math"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relevant </a:t>
                </a: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14:m>
                  <m:oMath xmlns:m="http://schemas.openxmlformats.org/officeDocument/2006/math"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 </m:t>
                    </m:r>
                    <m:d>
                      <m:dPr>
                        <m:begChr m:val="|"/>
                        <m:endChr m:val="|"/>
                        <m:ctrlP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de-DE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500" dirty="0">
                  <a:solidFill>
                    <a:srgbClr val="000000"/>
                  </a:solidFill>
                  <a:latin typeface="Arial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Kein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Orientierungstest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nötig</a:t>
                </a:r>
                <a:endParaRPr lang="en-US" sz="2500" dirty="0">
                  <a:solidFill>
                    <a:srgbClr val="000000"/>
                  </a:solidFill>
                  <a:latin typeface="Arial"/>
                </a:endParaRPr>
              </a:p>
              <a:p>
                <a:pPr defTabSz="457200">
                  <a:lnSpc>
                    <a:spcPct val="100000"/>
                  </a:lnSpc>
                  <a:tabLst>
                    <a:tab pos="0" algn="l"/>
                  </a:tabLst>
                  <a:defRPr/>
                </a:pPr>
                <a:endParaRPr lang="en-US" sz="2500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87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 bwMode="auto">
              <a:xfrm>
                <a:off x="407368" y="1556792"/>
                <a:ext cx="11449272" cy="4536504"/>
              </a:xfrm>
              <a:prstGeom prst="rect">
                <a:avLst/>
              </a:prstGeom>
              <a:blipFill>
                <a:blip r:embed="rId3"/>
                <a:stretch>
                  <a:fillRect l="-799" t="-53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15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50D3E2D-6588-4772-8147-09C08B76F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088" y="888889"/>
            <a:ext cx="4707744" cy="5007243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62B870A-7081-4EDE-B51D-987013FE121E}"/>
              </a:ext>
            </a:extLst>
          </p:cNvPr>
          <p:cNvCxnSpPr/>
          <p:nvPr/>
        </p:nvCxnSpPr>
        <p:spPr>
          <a:xfrm>
            <a:off x="7782860" y="1947604"/>
            <a:ext cx="1656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CF260F2-B790-48DB-B3E6-299AD2F5EB05}"/>
              </a:ext>
            </a:extLst>
          </p:cNvPr>
          <p:cNvCxnSpPr/>
          <p:nvPr/>
        </p:nvCxnSpPr>
        <p:spPr>
          <a:xfrm>
            <a:off x="7422820" y="2955716"/>
            <a:ext cx="19442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2FA917F-CC48-4539-96BB-78880860D4B5}"/>
              </a:ext>
            </a:extLst>
          </p:cNvPr>
          <p:cNvCxnSpPr>
            <a:cxnSpLocks/>
          </p:cNvCxnSpPr>
          <p:nvPr/>
        </p:nvCxnSpPr>
        <p:spPr>
          <a:xfrm>
            <a:off x="9079004" y="2533156"/>
            <a:ext cx="0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A8FAB17-8044-4E81-9DAC-6015347F338F}"/>
              </a:ext>
            </a:extLst>
          </p:cNvPr>
          <p:cNvCxnSpPr/>
          <p:nvPr/>
        </p:nvCxnSpPr>
        <p:spPr>
          <a:xfrm flipV="1">
            <a:off x="10375148" y="1947604"/>
            <a:ext cx="0" cy="2673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5809BF9C-41A2-4E72-ABEB-D32E78BBB4E5}"/>
              </a:ext>
            </a:extLst>
          </p:cNvPr>
          <p:cNvCxnSpPr/>
          <p:nvPr/>
        </p:nvCxnSpPr>
        <p:spPr>
          <a:xfrm>
            <a:off x="9727076" y="3469260"/>
            <a:ext cx="12961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DA2639FC-7F38-4C42-905C-8356EF88E00C}"/>
              </a:ext>
            </a:extLst>
          </p:cNvPr>
          <p:cNvSpPr/>
          <p:nvPr/>
        </p:nvSpPr>
        <p:spPr>
          <a:xfrm>
            <a:off x="7314809" y="2878967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37D95C4-013B-4695-9A58-0DCC9FB795ED}"/>
              </a:ext>
            </a:extLst>
          </p:cNvPr>
          <p:cNvSpPr/>
          <p:nvPr/>
        </p:nvSpPr>
        <p:spPr bwMode="auto">
          <a:xfrm>
            <a:off x="9302185" y="2878967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1CE3E61B-7993-4DBC-BCF0-C02EB15F3193}"/>
              </a:ext>
            </a:extLst>
          </p:cNvPr>
          <p:cNvSpPr/>
          <p:nvPr/>
        </p:nvSpPr>
        <p:spPr bwMode="auto">
          <a:xfrm>
            <a:off x="9014946" y="3824559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33D3248F-4DB4-40B5-A0F3-8D92F2255448}"/>
              </a:ext>
            </a:extLst>
          </p:cNvPr>
          <p:cNvSpPr/>
          <p:nvPr/>
        </p:nvSpPr>
        <p:spPr bwMode="auto">
          <a:xfrm>
            <a:off x="9014946" y="2482923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505A335-307F-41AC-B2C2-F6284B4E950D}"/>
              </a:ext>
            </a:extLst>
          </p:cNvPr>
          <p:cNvSpPr/>
          <p:nvPr/>
        </p:nvSpPr>
        <p:spPr bwMode="auto">
          <a:xfrm>
            <a:off x="9374192" y="1877764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46D72AD-C4EC-4762-A2C4-D11B8CF0684A}"/>
              </a:ext>
            </a:extLst>
          </p:cNvPr>
          <p:cNvSpPr/>
          <p:nvPr/>
        </p:nvSpPr>
        <p:spPr bwMode="auto">
          <a:xfrm>
            <a:off x="7710852" y="1870856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327347E-C1D8-46E5-8D38-A494B12FD8D3}"/>
              </a:ext>
            </a:extLst>
          </p:cNvPr>
          <p:cNvSpPr/>
          <p:nvPr/>
        </p:nvSpPr>
        <p:spPr bwMode="auto">
          <a:xfrm>
            <a:off x="10303140" y="1860731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5290550-089A-45CD-8746-7F700F7011E3}"/>
              </a:ext>
            </a:extLst>
          </p:cNvPr>
          <p:cNvSpPr/>
          <p:nvPr/>
        </p:nvSpPr>
        <p:spPr bwMode="auto">
          <a:xfrm>
            <a:off x="9655068" y="3392511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3214C299-AD92-4700-8D94-FFA41A8800F8}"/>
              </a:ext>
            </a:extLst>
          </p:cNvPr>
          <p:cNvSpPr/>
          <p:nvPr/>
        </p:nvSpPr>
        <p:spPr bwMode="auto">
          <a:xfrm>
            <a:off x="10293229" y="4535263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85F56BC2-2D3A-491C-A20E-63D94F49F7A3}"/>
              </a:ext>
            </a:extLst>
          </p:cNvPr>
          <p:cNvSpPr/>
          <p:nvPr/>
        </p:nvSpPr>
        <p:spPr bwMode="auto">
          <a:xfrm>
            <a:off x="10951214" y="3406051"/>
            <a:ext cx="144015" cy="1534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A5641BF-7B2E-478B-B298-A2304766F0D3}"/>
              </a:ext>
            </a:extLst>
          </p:cNvPr>
          <p:cNvSpPr/>
          <p:nvPr/>
        </p:nvSpPr>
        <p:spPr bwMode="auto">
          <a:xfrm>
            <a:off x="9014945" y="2878967"/>
            <a:ext cx="144015" cy="15349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36B90BD-CC26-4D39-9EE9-9E58CBB8A7DB}"/>
              </a:ext>
            </a:extLst>
          </p:cNvPr>
          <p:cNvSpPr/>
          <p:nvPr/>
        </p:nvSpPr>
        <p:spPr bwMode="auto">
          <a:xfrm>
            <a:off x="10293229" y="3406051"/>
            <a:ext cx="144015" cy="15349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3721B986-9ADD-4664-86A4-E5CFC96DAC0A}"/>
                  </a:ext>
                </a:extLst>
              </p:cNvPr>
              <p:cNvSpPr txBox="1"/>
              <p:nvPr/>
            </p:nvSpPr>
            <p:spPr>
              <a:xfrm>
                <a:off x="8112224" y="1120000"/>
                <a:ext cx="252028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5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2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5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de-DE" sz="2500" i="1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de-DE" sz="25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500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3721B986-9ADD-4664-86A4-E5CFC96DA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224" y="1120000"/>
                <a:ext cx="2520280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773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Fazit &amp; Ausblick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PlaceHolder 2"/>
              <p:cNvSpPr>
                <a:spLocks noGrp="1"/>
              </p:cNvSpPr>
              <p:nvPr>
                <p:ph/>
              </p:nvPr>
            </p:nvSpPr>
            <p:spPr bwMode="auto">
              <a:xfrm>
                <a:off x="407368" y="1556792"/>
                <a:ext cx="11449272" cy="453650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/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Reduziert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Vergleichsraum</a:t>
                </a:r>
                <a:endParaRPr lang="en-US" sz="2500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Nur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lokale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Nachbarschaftstests</a:t>
                </a:r>
                <a:endParaRPr lang="en-US" sz="2500" b="0" u="none" strike="noStrike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Dynamische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Ereigniserzeugung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Grundlage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moderner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Geometrie-Bibliotheken</a:t>
                </a:r>
                <a:endParaRPr lang="en-US" sz="2500" b="0" u="none" strike="noStrike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Grenzen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bilden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Grundlage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für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Optimierungen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und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Spezialisierungen</a:t>
                </a:r>
                <a:endParaRPr lang="en-US" sz="2500" b="0" u="none" strike="noStrike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Chazelle &amp;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Edelsbrunner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(1992): </a:t>
                </a:r>
                <a14:m>
                  <m:oMath xmlns:m="http://schemas.openxmlformats.org/officeDocument/2006/math"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de-DE" sz="2500" b="0" i="1" u="none" strike="noStrik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500" b="0" i="0" u="none" strike="noStrik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500" b="0" i="1" u="none" strike="noStrike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Balaban (1995): </a:t>
                </a:r>
                <a14:m>
                  <m:oMath xmlns:m="http://schemas.openxmlformats.org/officeDocument/2006/math"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2500" b="0" i="1" u="none" strike="noStrik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500" b="0" i="1" u="none" strike="noStrik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de-DE" sz="2500" b="0" i="1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 sz="2500" b="0" i="0" u="none" strike="noStrike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sz="2500" b="0" i="1" u="none" strike="noStrike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500" b="0" i="1" u="none" strike="noStrike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de-DE" sz="2500" b="0" i="1" u="none" strike="noStrike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500" b="0" i="1" u="none" strike="noStrike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de-DE" sz="2500" b="0" i="1" u="none" strike="noStrik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mit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geringerem</a:t>
                </a:r>
                <a:r>
                  <a:rPr lang="en-US" sz="2500" b="0" u="none" strike="noStrike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b="0" u="none" strike="noStrike" dirty="0" err="1">
                    <a:solidFill>
                      <a:srgbClr val="000000"/>
                    </a:solidFill>
                    <a:latin typeface="+mj-lt"/>
                  </a:rPr>
                  <a:t>Speicherbedarf</a:t>
                </a:r>
                <a:endParaRPr lang="en-US" sz="2500" b="0" u="none" strike="noStrike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7" name="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 bwMode="auto">
              <a:xfrm>
                <a:off x="407368" y="1556792"/>
                <a:ext cx="11449272" cy="4536504"/>
              </a:xfrm>
              <a:prstGeom prst="rect">
                <a:avLst/>
              </a:prstGeom>
              <a:blipFill>
                <a:blip r:embed="rId3"/>
                <a:stretch>
                  <a:fillRect l="-799" t="-94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16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9709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Quellen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371364" y="1668140"/>
            <a:ext cx="11449272" cy="39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de-DE" sz="1500" b="1" dirty="0"/>
              <a:t>Literatur: 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1500" dirty="0">
                <a:latin typeface="+mn-lt"/>
              </a:rPr>
              <a:t>Bentley, J. L.; Ottmann, T. A. (1979). </a:t>
            </a:r>
            <a:r>
              <a:rPr lang="en-US" sz="1500" dirty="0">
                <a:latin typeface="+mn-lt"/>
              </a:rPr>
              <a:t>Algorithms for Reporting and Counting Geometric Intersections.</a:t>
            </a:r>
            <a:endParaRPr lang="de-DE" sz="1500" dirty="0">
              <a:latin typeface="+mn-lt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pt-BR" sz="1500" dirty="0">
                <a:latin typeface="+mn-lt"/>
              </a:rPr>
              <a:t>Shamos, M.; Hoey, D. (1976). </a:t>
            </a:r>
            <a:r>
              <a:rPr lang="de-DE" sz="1500" dirty="0" err="1">
                <a:latin typeface="+mn-lt"/>
              </a:rPr>
              <a:t>Geometric</a:t>
            </a:r>
            <a:r>
              <a:rPr lang="de-DE" sz="1500" dirty="0">
                <a:latin typeface="+mn-lt"/>
              </a:rPr>
              <a:t> </a:t>
            </a:r>
            <a:r>
              <a:rPr lang="de-DE" sz="1500" dirty="0" err="1">
                <a:latin typeface="+mn-lt"/>
              </a:rPr>
              <a:t>Intersection</a:t>
            </a:r>
            <a:r>
              <a:rPr lang="de-DE" sz="1500" dirty="0">
                <a:latin typeface="+mn-lt"/>
              </a:rPr>
              <a:t> Problems.</a:t>
            </a:r>
            <a:endParaRPr lang="pt-BR" sz="1500" dirty="0">
              <a:latin typeface="+mn-lt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1500" dirty="0">
                <a:latin typeface="+mn-lt"/>
              </a:rPr>
              <a:t>Chazelle, B.; Edelsbrunner, H. (1992). </a:t>
            </a:r>
            <a:r>
              <a:rPr lang="en-US" sz="1500" dirty="0">
                <a:latin typeface="+mn-lt"/>
              </a:rPr>
              <a:t>An Optimal Algorithm for Intersecting Line Segments.</a:t>
            </a:r>
            <a:endParaRPr lang="de-DE" sz="1500" dirty="0">
              <a:latin typeface="+mn-lt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1500" dirty="0">
                <a:latin typeface="+mn-lt"/>
              </a:rPr>
              <a:t>Balaban, I. J. (1995). </a:t>
            </a:r>
            <a:r>
              <a:rPr lang="en-US" sz="1500" dirty="0">
                <a:latin typeface="+mn-lt"/>
              </a:rPr>
              <a:t>An Optimal Algorithm for Finding Segment Intersections.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1500" dirty="0"/>
          </a:p>
          <a:p>
            <a:pPr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dirty="0" err="1"/>
              <a:t>Bilder</a:t>
            </a:r>
            <a:r>
              <a:rPr lang="en-US" sz="1500" b="1" dirty="0"/>
              <a:t>: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valenpe7: Bentley–Ottmann Sweep Animation, GitHub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https://raw.githubusercontent.com/valenpe7/bentley-ottmann/master/bentley-ottmann.gif</a:t>
            </a:r>
            <a:endParaRPr lang="de-DE" altLang="de-DE" sz="1500" dirty="0">
              <a:solidFill>
                <a:schemeClr val="tx1"/>
              </a:solidFill>
              <a:latin typeface="+mn-lt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Reddit, r/Unity3D: „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My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implementation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Bentley–Ottmann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sweep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“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https://www.reddit.com/r/Unity3D/comments/iawibf/my_implementation_of_the_bentleyottmann_sweep/</a:t>
            </a:r>
            <a:endParaRPr lang="de-DE" altLang="de-DE" sz="1500" dirty="0">
              <a:solidFill>
                <a:schemeClr val="tx1"/>
              </a:solidFill>
              <a:latin typeface="+mn-lt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r-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jin.dev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„Heaps“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https://www.r-jin.dev/writings/heaps</a:t>
            </a:r>
            <a:endParaRPr lang="de-DE" altLang="de-DE" sz="1500" dirty="0">
              <a:solidFill>
                <a:schemeClr val="tx1"/>
              </a:solidFill>
              <a:latin typeface="+mn-lt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GeeksforGeeks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Balanced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Binary Search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Tree</a:t>
            </a:r>
            <a:b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https://media.geeksforgeeks.org/wp-content/uploads/20241004102053776744/Balance-a-Binary-Search-Tree-4.webp</a:t>
            </a:r>
            <a:endParaRPr kumimoji="0" lang="de-DE" altLang="de-DE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17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2/19/2026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9782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633</Words>
  <Application>Microsoft Office PowerPoint</Application>
  <DocSecurity>0</DocSecurity>
  <PresentationFormat>Breitbild</PresentationFormat>
  <Paragraphs>164</Paragraphs>
  <Slides>17</Slides>
  <Notes>17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</vt:lpstr>
      <vt:lpstr>Calibri Light</vt:lpstr>
      <vt:lpstr>Cambria Math</vt:lpstr>
      <vt:lpstr>Symbol</vt:lpstr>
      <vt:lpstr>Times New Roman</vt:lpstr>
      <vt:lpstr>Wingdings</vt:lpstr>
      <vt:lpstr>Office</vt:lpstr>
      <vt:lpstr>Der Bentley Ottmann Algorithmus</vt:lpstr>
      <vt:lpstr>Motivation</vt:lpstr>
      <vt:lpstr>Das Segment-Schnitt-Problem</vt:lpstr>
      <vt:lpstr>Naiver Algorithmus</vt:lpstr>
      <vt:lpstr>Sweep-Line-Technik</vt:lpstr>
      <vt:lpstr>Shamos-Hoey Algorithmus </vt:lpstr>
      <vt:lpstr>Datenstrukturen </vt:lpstr>
      <vt:lpstr>Ordnung der Segmente</vt:lpstr>
      <vt:lpstr>Orientierungstest (ccw)</vt:lpstr>
      <vt:lpstr>Reporting</vt:lpstr>
      <vt:lpstr>Schnittpunktberechnung</vt:lpstr>
      <vt:lpstr>Bentley-Ottmann</vt:lpstr>
      <vt:lpstr>Algorithmus</vt:lpstr>
      <vt:lpstr>Laufzeitanalyse</vt:lpstr>
      <vt:lpstr>Praxis &amp; Spezialisierungen</vt:lpstr>
      <vt:lpstr>Fazit &amp; Ausblick</vt:lpstr>
      <vt:lpstr>Quellen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for Papers Bot</dc:title>
  <dc:subject/>
  <dc:creator>Ross Alexander Khrisna</dc:creator>
  <cp:keywords/>
  <dc:description/>
  <cp:lastModifiedBy>Ross Alexander Khrisna</cp:lastModifiedBy>
  <cp:revision>42</cp:revision>
  <dcterms:created xsi:type="dcterms:W3CDTF">2026-02-10T19:41:12Z</dcterms:created>
  <dcterms:modified xsi:type="dcterms:W3CDTF">2026-02-19T19:40:38Z</dcterms:modified>
  <cp:category/>
  <dc:identifier/>
  <cp:contentStatus/>
  <dc:language>en-US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</vt:i4>
  </property>
</Properties>
</file>