
<file path=[Content_Types].xml><?xml version="1.0" encoding="utf-8"?>
<Types xmlns="http://schemas.openxmlformats.org/package/2006/content-types">
  <Default Extension="gif" ContentType="image/gif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954" y="25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Click to move the slide</a:t>
            </a: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82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83" name="PlaceHolder 4"/>
          <p:cNvSpPr>
            <a:spLocks noGrp="1"/>
          </p:cNvSpPr>
          <p:nvPr>
            <p:ph type="dt" idx="34"/>
          </p:nvPr>
        </p:nvSpPr>
        <p:spPr bwMode="auto"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84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85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0323BDB2-A35A-4D5D-BFB0-5827C87B7801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007572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6022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51166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547702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72521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58115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6671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9925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530176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01384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06981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853720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677962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 bwMode="auto">
          <a:xfrm>
            <a:off x="777240" y="4840560"/>
            <a:ext cx="6217560" cy="39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93"/>
          </p:nvPr>
        </p:nvSpPr>
        <p:spPr bwMode="auto">
          <a:xfrm>
            <a:off x="440244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2CCF9F65-F3B9-4C83-ABF0-8F40E64E8B43}" type="slidenum">
              <a:rPr lang="en-US" sz="1200" b="0" u="none" strike="noStrike">
                <a:solidFill>
                  <a:srgbClr val="000000"/>
                </a:solidFill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4675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ild mit 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" name="Grafik 8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748080"/>
            <a:ext cx="3931560" cy="130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 bwMode="auto">
          <a:xfrm>
            <a:off x="4917240" y="99540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"/>
              </a:rPr>
              <a:t>Bild durch Klicken auf Symbol hinzufügen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28290AF8-983C-4E29-855A-C8EEDC5E1469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60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4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1C994949-BB3C-4F98-B423-22F668F9EC91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81120"/>
            <a:ext cx="10183680" cy="100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A688051-465E-46AE-AF10-99E238759208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60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0" u="none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Mastertextformat bearbeiten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9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9248A00-0C3F-4A5C-B530-1472F8624302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81120"/>
            <a:ext cx="10134000" cy="100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0445A79-5290-4E66-844F-E81847A58DD2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ergleic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9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668160"/>
            <a:ext cx="10173960" cy="102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400" b="1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400" b="1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45" name="PlaceHolder 6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7" name="PlaceHolder 8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54EFF92-E3F9-4722-9C71-3E4F7BA0039C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1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73200"/>
            <a:ext cx="1019196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63" name="PlaceHolder 2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5" name="PlaceHolder 4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3295583-D725-497D-81E2-B81AEB8562A2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400" b="0" u="none" strike="noStrike">
                <a:solidFill>
                  <a:srgbClr val="000000"/>
                </a:solidFill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73200"/>
            <a:ext cx="1019196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4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5FAE9E3F-58DB-4739-A41A-1CB363CBCA50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400" b="0" u="none" strike="noStrike">
                <a:solidFill>
                  <a:srgbClr val="000000"/>
                </a:solidFill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5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673200"/>
            <a:ext cx="1019196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44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B2FDB9C0-5B56-433A-B6DF-665C36878247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800" b="0" u="none" strike="noStrike">
                <a:solidFill>
                  <a:srgbClr val="000000"/>
                </a:solidFill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400" b="0" u="none" strike="noStrike">
                <a:solidFill>
                  <a:srgbClr val="000000"/>
                </a:solidFill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rgbClr val="000000"/>
                </a:solidFill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8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4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1" name="PlaceHolder 3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8D8F9986-AC54-458E-ABDF-4DC23A9BE9B0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Inhalt mit 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" name="Rechteck 10"/>
          <p:cNvSpPr/>
          <p:nvPr/>
        </p:nvSpPr>
        <p:spPr bwMode="auto">
          <a:xfrm>
            <a:off x="0" y="6274080"/>
            <a:ext cx="12191400" cy="583200"/>
          </a:xfrm>
          <a:prstGeom prst="rect">
            <a:avLst/>
          </a:prstGeom>
          <a:solidFill>
            <a:srgbClr val="C7105C"/>
          </a:solidFill>
          <a:ln>
            <a:solidFill>
              <a:srgbClr val="C7105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Grafik 8"/>
          <p:cNvPicPr/>
          <p:nvPr/>
        </p:nvPicPr>
        <p:blipFill>
          <a:blip r:embed="rId2"/>
          <a:stretch/>
        </p:blipFill>
        <p:spPr bwMode="auto">
          <a:xfrm>
            <a:off x="0" y="0"/>
            <a:ext cx="2318400" cy="50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690120"/>
            <a:ext cx="3931560" cy="13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 Light"/>
              </a:rPr>
              <a:t>Mastertitelformat bearbeiten</a:t>
            </a: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 bwMode="auto">
          <a:xfrm>
            <a:off x="4883760" y="99540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800" b="0" u="none" strike="noStrike">
                <a:solidFill>
                  <a:schemeClr val="dk1"/>
                </a:solidFill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 lang="de-DE" sz="2000" b="0" u="none" strike="noStrike">
                <a:solidFill>
                  <a:schemeClr val="dk1"/>
                </a:solidFill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32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Calibri"/>
              </a:rPr>
              <a:t>Zweite Ebene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Calibri"/>
              </a:rPr>
              <a:t>Dritte Ebene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Symbol"/>
              <a:buChar char="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Vierte Ebene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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Calibri"/>
              </a:rPr>
              <a:t>Fünfte Ebene</a:t>
            </a: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Calibri"/>
              </a:rPr>
              <a:t>Mastertextformat bearbeiten</a:t>
            </a:r>
          </a:p>
        </p:txBody>
      </p:sp>
      <p:sp>
        <p:nvSpPr>
          <p:cNvPr id="77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200" b="0" u="none" strike="noStrike">
                <a:solidFill>
                  <a:schemeClr val="lt1"/>
                </a:solidFill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9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9294BB57-7FF4-4615-9AB5-40C941A77F0C}" type="slidenum">
              <a:rPr lang="de-DE" sz="1200" b="0" u="none" strike="noStrike">
                <a:solidFill>
                  <a:schemeClr val="lt1"/>
                </a:solidFill>
                <a:latin typeface="Calibri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3488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defRPr/>
            </a:pPr>
            <a:r>
              <a:rPr lang="de-DE" sz="4400" b="0" u="none" strike="noStrike" dirty="0">
                <a:solidFill>
                  <a:schemeClr val="dk1"/>
                </a:solidFill>
                <a:latin typeface="Calibri"/>
                <a:ea typeface="Arial"/>
              </a:rPr>
              <a:t>Der Bentley Ottmann Algorithmus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3475328" y="3425304"/>
            <a:ext cx="5240744" cy="1272992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1500" b="0" u="none" strike="noStrike" dirty="0">
                <a:solidFill>
                  <a:schemeClr val="dk1"/>
                </a:solidFill>
                <a:latin typeface="Calibri"/>
                <a:ea typeface="Arial"/>
              </a:rPr>
              <a:t>Ross Alexander </a:t>
            </a:r>
            <a:r>
              <a:rPr lang="de-DE" sz="1500" b="0" u="none" strike="noStrike" dirty="0" err="1">
                <a:solidFill>
                  <a:schemeClr val="dk1"/>
                </a:solidFill>
                <a:latin typeface="Calibri"/>
                <a:ea typeface="Arial"/>
              </a:rPr>
              <a:t>KhrisnaUniversität</a:t>
            </a:r>
            <a:r>
              <a:rPr lang="de-DE" sz="1500" b="0" u="none" strike="noStrike" dirty="0">
                <a:solidFill>
                  <a:schemeClr val="dk1"/>
                </a:solidFill>
                <a:latin typeface="Calibri"/>
                <a:ea typeface="Arial"/>
              </a:rPr>
              <a:t> Kassel, Fachbereich 16 – Elektrotechnik/Informatik</a:t>
            </a: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Motivation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Gegeben: n Liniensegmente in ℝ²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Gesucht: Alle Schnittpunkte</a:t>
            </a: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de-DE" sz="2500" dirty="0"/>
              <a:t>Ziel: Subquadratische Laufzeit</a:t>
            </a:r>
            <a:endParaRPr lang="en-US" sz="2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AB54863-8A52-47E7-9304-D525BEEA1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016" y="980728"/>
            <a:ext cx="4783460" cy="466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39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Das Segment-Schnitt Problem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208206" y="2996952"/>
            <a:ext cx="3370764" cy="139397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500" b="0" u="none" strike="noStrike" dirty="0" err="1">
                <a:solidFill>
                  <a:srgbClr val="000000"/>
                </a:solidFill>
                <a:latin typeface="+mj-lt"/>
              </a:rPr>
              <a:t>Entscheidungsproblem</a:t>
            </a:r>
            <a:endParaRPr lang="en-US" sz="2500" dirty="0">
              <a:solidFill>
                <a:srgbClr val="000000"/>
              </a:solidFill>
              <a:latin typeface="+mj-lt"/>
            </a:endParaRPr>
          </a:p>
          <a:p>
            <a:pPr algn="ctr"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500" b="0" u="none" strike="noStrike" dirty="0">
                <a:solidFill>
                  <a:srgbClr val="000000"/>
                </a:solidFill>
                <a:latin typeface="+mj-lt"/>
              </a:rPr>
              <a:t>Reporting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-Problem</a:t>
            </a:r>
          </a:p>
          <a:p>
            <a:pPr algn="ctr" defTabSz="4572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500" b="0" u="none" strike="noStrike" dirty="0">
                <a:solidFill>
                  <a:srgbClr val="000000"/>
                </a:solidFill>
                <a:latin typeface="+mj-lt"/>
              </a:rPr>
              <a:t>Counting</a:t>
            </a:r>
            <a:r>
              <a:rPr lang="en-US" sz="2500" dirty="0">
                <a:solidFill>
                  <a:srgbClr val="000000"/>
                </a:solidFill>
                <a:latin typeface="+mj-lt"/>
              </a:rPr>
              <a:t>-Problem </a:t>
            </a:r>
            <a:endParaRPr lang="en-US" sz="2500" b="0" u="none" strike="noStrik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B10FAB12-1818-4DB9-9695-1A85F2BCFCD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376421" y="2204864"/>
                <a:ext cx="7439157" cy="64807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>
                <a:lvl1pPr indent="0"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tabLst>
                    <a:tab pos="0" algn="l"/>
                  </a:tabLst>
                  <a:defRPr lang="de-DE" sz="4400" b="0" u="none" strike="noStrike" kern="1200">
                    <a:solidFill>
                      <a:schemeClr val="dk1"/>
                    </a:solidFill>
                    <a:latin typeface="Calibri Light"/>
                    <a:ea typeface="+mj-ea"/>
                    <a:cs typeface="+mj-cs"/>
                  </a:defRPr>
                </a:lvl1pPr>
              </a:lstStyle>
              <a:p>
                <a:pPr algn="ctr" defTabSz="457200">
                  <a:lnSpc>
                    <a:spcPct val="100000"/>
                  </a:lnSpc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8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de-DE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8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8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begChr m:val=""/>
                            <m:endChr m:val="|"/>
                            <m:ctrlPr>
                              <a:rPr lang="de-DE" sz="28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de-DE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de-DE" sz="28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de-DE" sz="28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de-DE" sz="2800" i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sz="2800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sz="28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de-DE" sz="2800" i="0"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de-DE" sz="2800" i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  <m:r>
                      <m:rPr>
                        <m:nor/>
                      </m:rPr>
                      <a:rPr lang="de-DE" sz="2800"/>
                      <m:t>​</m:t>
                    </m:r>
                  </m:oMath>
                </a14:m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+mj-lt"/>
                  </a:rPr>
                  <a:t>mit</a:t>
                </a:r>
                <a:r>
                  <a:rPr lang="en-US" sz="25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250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ⅈ</m:t>
                    </m:r>
                    <m:r>
                      <a:rPr lang="en-US" sz="2500" i="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500" i="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sz="2500" i="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∧ⅈ&gt;0</m:t>
                    </m:r>
                  </m:oMath>
                </a14:m>
                <a:endParaRPr lang="en-US" sz="2500" dirty="0">
                  <a:solidFill>
                    <a:srgbClr val="000000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B10FAB12-1818-4DB9-9695-1A85F2BCF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76421" y="2204864"/>
                <a:ext cx="7439157" cy="648072"/>
              </a:xfrm>
              <a:prstGeom prst="rect">
                <a:avLst/>
              </a:prstGeom>
              <a:blipFill>
                <a:blip r:embed="rId3"/>
                <a:stretch>
                  <a:fillRect t="-1887" b="-188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0385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Naiver Algorithmus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25161CC8-BEBF-4114-B9F2-B678D95DE996}"/>
                  </a:ext>
                </a:extLst>
              </p:cNvPr>
              <p:cNvSpPr txBox="1"/>
              <p:nvPr/>
            </p:nvSpPr>
            <p:spPr>
              <a:xfrm>
                <a:off x="479376" y="1635020"/>
                <a:ext cx="4464496" cy="17105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500" dirty="0">
                    <a:latin typeface="+mj-lt"/>
                  </a:rPr>
                  <a:t>Idee: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sz="2500" dirty="0">
                    <a:latin typeface="+mj-lt"/>
                  </a:rPr>
                  <a:t>Prüfe jedes Segmentpaar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sz="2500" dirty="0">
                    <a:latin typeface="+mj-lt"/>
                  </a:rPr>
                  <a:t>Anzahl der Paare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de-DE" dirty="0">
                    <a:latin typeface="+mj-lt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sz="2500" dirty="0" err="1">
                    <a:latin typeface="+mj-lt"/>
                  </a:rPr>
                  <a:t>Worst</a:t>
                </a:r>
                <a:r>
                  <a:rPr lang="de-DE" sz="2500" dirty="0">
                    <a:latin typeface="+mj-lt"/>
                  </a:rPr>
                  <a:t>-Case Laufzeit von </a:t>
                </a:r>
                <a14:m>
                  <m:oMath xmlns:m="http://schemas.openxmlformats.org/officeDocument/2006/math">
                    <m:r>
                      <a:rPr lang="de-DE" sz="2500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de-DE" sz="2500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500" i="1" dirty="0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50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de-DE" sz="25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de-DE" sz="2500" dirty="0">
                  <a:latin typeface="+mj-lt"/>
                </a:endParaRPr>
              </a:p>
            </p:txBody>
          </p:sp>
        </mc:Choice>
        <mc:Fallback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25161CC8-BEBF-4114-B9F2-B678D95DE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76" y="1635020"/>
                <a:ext cx="4464496" cy="1710533"/>
              </a:xfrm>
              <a:prstGeom prst="rect">
                <a:avLst/>
              </a:prstGeom>
              <a:blipFill>
                <a:blip r:embed="rId3"/>
                <a:stretch>
                  <a:fillRect l="-2322" t="-2491" b="-49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345BAF07-417C-437C-85BB-3DB4F988EA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433" y="1635815"/>
            <a:ext cx="6048375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425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Sweep-Line-Technik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pic>
        <p:nvPicPr>
          <p:cNvPr id="2" name="m2-res_1080p">
            <a:hlinkClick r:id="" action="ppaction://media"/>
            <a:extLst>
              <a:ext uri="{FF2B5EF4-FFF2-40B4-BE49-F238E27FC236}">
                <a16:creationId xmlns:a16="http://schemas.microsoft.com/office/drawing/2014/main" id="{CF0BFE6F-1B5B-4AE6-A980-05FD66161C9D}"/>
              </a:ext>
            </a:extLst>
          </p:cNvPr>
          <p:cNvPicPr>
            <a:picLocks noGrp="1" noChangeAspect="1"/>
          </p:cNvPicPr>
          <p:nvPr>
            <p:ph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38906" y="1556792"/>
            <a:ext cx="7114188" cy="4001818"/>
          </a:xfrm>
        </p:spPr>
      </p:pic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474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5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 err="1">
                <a:latin typeface="Calibri"/>
              </a:rPr>
              <a:t>Shamos-Hoey</a:t>
            </a:r>
            <a:r>
              <a:rPr lang="de-DE" dirty="0">
                <a:latin typeface="Calibri"/>
              </a:rPr>
              <a:t> Algorithmus 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6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768B5FC-3928-46B2-B51A-53B4FB550A52}"/>
              </a:ext>
            </a:extLst>
          </p:cNvPr>
          <p:cNvSpPr/>
          <p:nvPr/>
        </p:nvSpPr>
        <p:spPr>
          <a:xfrm>
            <a:off x="1545438" y="2124550"/>
            <a:ext cx="1844048" cy="303674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C1CB186-9DBF-4EBA-B8ED-79667F890E06}"/>
              </a:ext>
            </a:extLst>
          </p:cNvPr>
          <p:cNvSpPr/>
          <p:nvPr/>
        </p:nvSpPr>
        <p:spPr bwMode="auto">
          <a:xfrm>
            <a:off x="1697838" y="2276950"/>
            <a:ext cx="1844048" cy="30367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i="1" dirty="0">
                <a:solidFill>
                  <a:schemeClr val="tx1"/>
                </a:solidFill>
              </a:rPr>
              <a:t>Sweep-Line</a:t>
            </a:r>
          </a:p>
          <a:p>
            <a:pPr algn="ctr"/>
            <a:r>
              <a:rPr lang="de-DE" i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de-DE" i="1" dirty="0">
                <a:solidFill>
                  <a:schemeClr val="tx1"/>
                </a:solidFill>
              </a:rPr>
              <a:t>Datenstrukturen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6785997-EA20-4C6D-A3B3-BE85B279AE33}"/>
              </a:ext>
            </a:extLst>
          </p:cNvPr>
          <p:cNvSpPr/>
          <p:nvPr/>
        </p:nvSpPr>
        <p:spPr bwMode="auto">
          <a:xfrm>
            <a:off x="4939113" y="2156548"/>
            <a:ext cx="1844048" cy="303674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6342FC8-9FA8-47D8-B488-5EAA981A521F}"/>
              </a:ext>
            </a:extLst>
          </p:cNvPr>
          <p:cNvSpPr/>
          <p:nvPr/>
        </p:nvSpPr>
        <p:spPr bwMode="auto">
          <a:xfrm>
            <a:off x="5091513" y="2308948"/>
            <a:ext cx="1844048" cy="303674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i="1" dirty="0">
                <a:solidFill>
                  <a:schemeClr val="tx1"/>
                </a:solidFill>
              </a:rPr>
              <a:t>Existiert mind.</a:t>
            </a:r>
          </a:p>
          <a:p>
            <a:pPr algn="ctr"/>
            <a:r>
              <a:rPr lang="de-DE" i="1" dirty="0">
                <a:solidFill>
                  <a:schemeClr val="tx1"/>
                </a:solidFill>
              </a:rPr>
              <a:t>ein Schnittpunkt?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D75D9B-0E2A-4720-A5BF-FD5DC720CA10}"/>
              </a:ext>
            </a:extLst>
          </p:cNvPr>
          <p:cNvSpPr/>
          <p:nvPr/>
        </p:nvSpPr>
        <p:spPr bwMode="auto">
          <a:xfrm>
            <a:off x="8332788" y="2156548"/>
            <a:ext cx="1844048" cy="303674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8656306D-5CB1-4BAE-A6C3-4E6AB3944751}"/>
                  </a:ext>
                </a:extLst>
              </p:cNvPr>
              <p:cNvSpPr/>
              <p:nvPr/>
            </p:nvSpPr>
            <p:spPr bwMode="auto">
              <a:xfrm>
                <a:off x="8485188" y="2308948"/>
                <a:ext cx="1844048" cy="303674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de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func>
                            <m:funcPr>
                              <m:ctrlP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de-D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8656306D-5CB1-4BAE-A6C3-4E6AB39447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85188" y="2308948"/>
                <a:ext cx="1844048" cy="30367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279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Datenstrukturen 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4392488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0" indent="-457200" defTabSz="457200">
              <a:lnSpc>
                <a:spcPct val="100000"/>
              </a:lnSpc>
              <a:buAutoNum type="arabicPeriod"/>
              <a:tabLst>
                <a:tab pos="0" algn="l"/>
              </a:tabLst>
              <a:defRPr/>
            </a:pPr>
            <a:r>
              <a:rPr lang="en-US" sz="2500" b="0" u="none" strike="noStrike" dirty="0">
                <a:solidFill>
                  <a:srgbClr val="000000"/>
                </a:solidFill>
                <a:latin typeface="Arial"/>
              </a:rPr>
              <a:t>Event Queue</a:t>
            </a:r>
          </a:p>
          <a:p>
            <a:pPr marL="342900" indent="-34290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2500" dirty="0" err="1">
                <a:solidFill>
                  <a:srgbClr val="000000"/>
                </a:solidFill>
                <a:latin typeface="Arial"/>
              </a:rPr>
              <a:t>Prioritätswarteschlange</a:t>
            </a:r>
            <a:endParaRPr lang="en-US" sz="2500" dirty="0">
              <a:solidFill>
                <a:srgbClr val="000000"/>
              </a:solidFill>
              <a:latin typeface="Arial"/>
            </a:endParaRPr>
          </a:p>
          <a:p>
            <a:pPr marL="342900" indent="-342900" defTabSz="4572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2500" b="0" u="none" strike="noStrike" dirty="0" err="1">
                <a:solidFill>
                  <a:srgbClr val="000000"/>
                </a:solidFill>
                <a:latin typeface="Arial"/>
              </a:rPr>
              <a:t>Sortiert</a:t>
            </a:r>
            <a:r>
              <a:rPr lang="en-US" sz="2500" b="0" u="none" strike="noStrike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500" b="0" u="none" strike="noStrike" dirty="0" err="1">
                <a:solidFill>
                  <a:srgbClr val="000000"/>
                </a:solidFill>
                <a:latin typeface="Arial"/>
              </a:rPr>
              <a:t>nach</a:t>
            </a:r>
            <a:r>
              <a:rPr lang="en-US" sz="2500" dirty="0">
                <a:solidFill>
                  <a:srgbClr val="000000"/>
                </a:solidFill>
                <a:latin typeface="Arial"/>
              </a:rPr>
              <a:t> x</a:t>
            </a:r>
            <a:endParaRPr lang="en-US" sz="2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7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56628C43-2B08-4399-9B66-B480EACE0178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600056" y="1556792"/>
                <a:ext cx="4392488" cy="453650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91440" tIns="45720" rIns="91440" bIns="45720" anchor="t">
                <a:noAutofit/>
              </a:bodyPr>
              <a:lstStyle>
                <a:lvl1pPr indent="0"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tabLst>
                    <a:tab pos="0" algn="l"/>
                  </a:tabLst>
                  <a:defRPr lang="de-DE" sz="4400" b="0" u="none" strike="noStrike" kern="1200">
                    <a:solidFill>
                      <a:schemeClr val="dk1"/>
                    </a:solidFill>
                    <a:latin typeface="Calibri Light"/>
                    <a:ea typeface="+mj-ea"/>
                    <a:cs typeface="+mj-cs"/>
                  </a:defRPr>
                </a:lvl1pPr>
              </a:lstStyle>
              <a:p>
                <a:pPr marL="457200" indent="-457200" defTabSz="457200">
                  <a:lnSpc>
                    <a:spcPct val="100000"/>
                  </a:lnSpc>
                  <a:buAutoNum type="arabicPeriod"/>
                  <a:defRPr/>
                </a:pP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Sweep-Line-Status</a:t>
                </a:r>
              </a:p>
              <a:p>
                <a:pPr marL="457200" indent="-4572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Balancierter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binärer</a:t>
                </a:r>
                <a:r>
                  <a:rPr lang="en-US" sz="2500" dirty="0">
                    <a:solidFill>
                      <a:srgbClr val="000000"/>
                    </a:solidFill>
                    <a:latin typeface="Arial"/>
                  </a:rPr>
                  <a:t> </a:t>
                </a:r>
                <a:r>
                  <a:rPr lang="en-US" sz="2500" dirty="0" err="1">
                    <a:solidFill>
                      <a:srgbClr val="000000"/>
                    </a:solidFill>
                    <a:latin typeface="Arial"/>
                  </a:rPr>
                  <a:t>Suchbaum</a:t>
                </a:r>
                <a:endParaRPr lang="en-US" sz="2500" dirty="0">
                  <a:solidFill>
                    <a:srgbClr val="000000"/>
                  </a:solidFill>
                  <a:latin typeface="Arial"/>
                </a:endParaRPr>
              </a:p>
              <a:p>
                <a:pPr marL="457200" indent="-457200" defTabSz="457200">
                  <a:lnSpc>
                    <a:spcPct val="100000"/>
                  </a:lnSpc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r>
                      <a:rPr lang="en-US" sz="25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5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5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5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fName>
                      <m:e>
                        <m:d>
                          <m:dPr>
                            <m:ctrlPr>
                              <a:rPr lang="en-US" sz="25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5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de-DE" sz="25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500" i="1" dirty="0">
                  <a:solidFill>
                    <a:srgbClr val="00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6" name="PlaceHolder 2">
                <a:extLst>
                  <a:ext uri="{FF2B5EF4-FFF2-40B4-BE49-F238E27FC236}">
                    <a16:creationId xmlns:a16="http://schemas.microsoft.com/office/drawing/2014/main" id="{56628C43-2B08-4399-9B66-B480EACE0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00056" y="1556792"/>
                <a:ext cx="4392488" cy="4536504"/>
              </a:xfrm>
              <a:prstGeom prst="rect">
                <a:avLst/>
              </a:prstGeom>
              <a:blipFill>
                <a:blip r:embed="rId3"/>
                <a:stretch>
                  <a:fillRect l="-2083" t="-94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3811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Ordnung der Segmente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8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58124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Orientierungstest (</a:t>
            </a:r>
            <a:r>
              <a:rPr lang="de-DE" dirty="0" err="1">
                <a:latin typeface="Calibri"/>
              </a:rPr>
              <a:t>ccw</a:t>
            </a:r>
            <a:r>
              <a:rPr lang="de-DE" dirty="0">
                <a:latin typeface="Calibri"/>
              </a:rPr>
              <a:t>)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9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9813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Schnittpunktberechnung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10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9178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sz="4400" b="0" u="none" strike="noStrike" dirty="0">
                <a:solidFill>
                  <a:schemeClr val="dk1"/>
                </a:solidFill>
                <a:latin typeface="Calibri"/>
              </a:rPr>
              <a:t>Reporting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11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3273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Bentley-Ottmann: Erweiterung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12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42171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Algorithmus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13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2908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Laufzeitanalyse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14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875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 bwMode="auto">
          <a:xfrm>
            <a:off x="407368" y="548680"/>
            <a:ext cx="109724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457200">
              <a:lnSpc>
                <a:spcPct val="100000"/>
              </a:lnSpc>
              <a:buNone/>
              <a:defRPr/>
            </a:pPr>
            <a:r>
              <a:rPr lang="de-DE" dirty="0">
                <a:latin typeface="Calibri"/>
              </a:rPr>
              <a:t>Fazit &amp; Ausblick</a:t>
            </a:r>
            <a:endParaRPr lang="de-DE" sz="4400" b="0" u="none" strike="noStrike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 bwMode="auto">
          <a:xfrm>
            <a:off x="407368" y="1556792"/>
            <a:ext cx="11449272" cy="45365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  <a:defRPr/>
            </a:pPr>
            <a:endParaRPr lang="en-US" sz="1500" b="0" u="none" strike="noStrike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37"/>
          </p:nvPr>
        </p:nvSpPr>
        <p:spPr bwMode="auto">
          <a:xfrm>
            <a:off x="873720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defRPr/>
            </a:pPr>
            <a:fld id="{6DF3737F-BC64-4184-949C-A06C4EB7FD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15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dt" idx="38"/>
          </p:nvPr>
        </p:nvSpPr>
        <p:spPr bwMode="auto">
          <a:xfrm>
            <a:off x="609480" y="635652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defRPr/>
            </a:pPr>
            <a:fld id="{DBA14106-6E48-448F-A35B-EE5482582808}" type="datetime1">
              <a:rPr lang="en-US" sz="1200" b="0" u="none" strike="noStrike">
                <a:solidFill>
                  <a:schemeClr val="dk1">
                    <a:tint val="75000"/>
                  </a:schemeClr>
                </a:solidFill>
                <a:latin typeface="Calibri"/>
                <a:ea typeface="Arial"/>
              </a:rPr>
              <a:t>2/12/2026</a:t>
            </a:fld>
            <a:endParaRPr lang="en-US" sz="1200" b="0" u="none" strike="noStrike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46773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154</Words>
  <Application>Microsoft Office PowerPoint</Application>
  <DocSecurity>0</DocSecurity>
  <PresentationFormat>Breitbild</PresentationFormat>
  <Paragraphs>84</Paragraphs>
  <Slides>15</Slides>
  <Notes>15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Symbol</vt:lpstr>
      <vt:lpstr>Times New Roman</vt:lpstr>
      <vt:lpstr>Wingdings</vt:lpstr>
      <vt:lpstr>Office</vt:lpstr>
      <vt:lpstr>Der Bentley Ottmann Algorithmus</vt:lpstr>
      <vt:lpstr>Motivation</vt:lpstr>
      <vt:lpstr>Das Segment-Schnitt Problem</vt:lpstr>
      <vt:lpstr>Naiver Algorithmus</vt:lpstr>
      <vt:lpstr>Sweep-Line-Technik</vt:lpstr>
      <vt:lpstr>Shamos-Hoey Algorithmus </vt:lpstr>
      <vt:lpstr>Datenstrukturen </vt:lpstr>
      <vt:lpstr>Ordnung der Segmente</vt:lpstr>
      <vt:lpstr>Orientierungstest (ccw)</vt:lpstr>
      <vt:lpstr>Schnittpunktberechnung</vt:lpstr>
      <vt:lpstr>Reporting</vt:lpstr>
      <vt:lpstr>Bentley-Ottmann: Erweiterung</vt:lpstr>
      <vt:lpstr>Algorithmus</vt:lpstr>
      <vt:lpstr>Laufzeitanalyse</vt:lpstr>
      <vt:lpstr>Fazit &amp; Ausblick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Call for Papers Bot</dc:title>
  <dc:subject/>
  <dc:creator>Ross Alexander Khrisna</dc:creator>
  <cp:keywords/>
  <dc:description/>
  <cp:lastModifiedBy>Ross Alexander Khrisna</cp:lastModifiedBy>
  <cp:revision>13</cp:revision>
  <dcterms:created xsi:type="dcterms:W3CDTF">2026-02-10T19:41:12Z</dcterms:created>
  <dcterms:modified xsi:type="dcterms:W3CDTF">2026-02-12T15:37:39Z</dcterms:modified>
  <cp:category/>
  <dc:identifier/>
  <cp:contentStatus/>
  <dc:language>en-US</dc:language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1</vt:i4>
  </property>
</Properties>
</file>