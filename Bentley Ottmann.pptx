
<file path=[Content_Types].xml><?xml version="1.0" encoding="utf-8"?>
<Types xmlns="http://schemas.openxmlformats.org/package/2006/content-types"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954" y="25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defTabSz="914400">
              <a:lnSpc>
                <a:spcPct val="90000"/>
              </a:lnSpc>
              <a:tabLst>
                <a:tab pos="0" algn="l"/>
              </a:tabLst>
              <a:defRPr/>
            </a:pPr>
            <a:r>
              <a:rPr lang="de-DE" sz="4400" b="0" u="none" strike="noStrike">
                <a:solidFill>
                  <a:schemeClr val="dk1"/>
                </a:solidFill>
                <a:latin typeface="Calibri Light"/>
              </a:rPr>
              <a:t>Click to move the slide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82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83" name="PlaceHolder 4"/>
          <p:cNvSpPr>
            <a:spLocks noGrp="1"/>
          </p:cNvSpPr>
          <p:nvPr>
            <p:ph type="dt" idx="34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84" name="PlaceHolder 5"/>
          <p:cNvSpPr>
            <a:spLocks noGrp="1"/>
          </p:cNvSpPr>
          <p:nvPr>
            <p:ph type="ftr" idx="35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5" name="PlaceHolder 6"/>
          <p:cNvSpPr>
            <a:spLocks noGrp="1"/>
          </p:cNvSpPr>
          <p:nvPr>
            <p:ph type="sldNum" idx="36"/>
          </p:nvPr>
        </p:nvSpPr>
        <p:spPr bwMode="auto"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0323BDB2-A35A-4D5D-BFB0-5827C87B7801}" type="slidenum"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‹Nr.›</a:t>
            </a:fld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2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00757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3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6022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4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1166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5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4770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6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17252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7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8115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8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766715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9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23992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10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30176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11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01384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12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06981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13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53720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14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677962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533400" y="763588"/>
            <a:ext cx="6704013" cy="377190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840560"/>
            <a:ext cx="6217560" cy="396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93"/>
          </p:nvPr>
        </p:nvSpPr>
        <p:spPr bwMode="auto">
          <a:xfrm>
            <a:off x="4402440" y="9553680"/>
            <a:ext cx="3367800" cy="50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defRPr/>
            </a:pPr>
            <a:fld id="{2CCF9F65-F3B9-4C83-ABF0-8F40E64E8B43}" type="slidenum">
              <a:rPr lang="en-US" sz="1200" b="0" u="none" strike="noStrike">
                <a:solidFill>
                  <a:srgbClr val="000000"/>
                </a:solidFill>
                <a:latin typeface="Times New Roman"/>
              </a:rPr>
              <a:t>15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4675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ild mit 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" name="Grafik 8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748080"/>
            <a:ext cx="3931560" cy="1308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32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 bwMode="auto">
          <a:xfrm>
            <a:off x="4917240" y="99540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3200" b="0" u="none" strike="noStrike">
                <a:solidFill>
                  <a:schemeClr val="dk1"/>
                </a:solidFill>
                <a:latin typeface="Calibri"/>
              </a:rPr>
              <a:t>Bild durch Klicken auf Symbol hinzufügen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de-DE" sz="1600" b="0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28290AF8-983C-4E29-855A-C8EEDC5E1469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de-DE" sz="60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60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dt" idx="4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5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sldNum" idx="6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1C994949-BB3C-4F98-B423-22F668F9EC91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el und Inha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681120"/>
            <a:ext cx="10183680" cy="100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44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 lang="de-DE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 lang="de-DE" sz="18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defRPr lang="de-DE" sz="18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2800" b="0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/>
            </a:pPr>
            <a:r>
              <a:rPr lang="de-DE" sz="2400" b="0" u="none" strike="noStrike">
                <a:solidFill>
                  <a:schemeClr val="dk1"/>
                </a:solidFill>
                <a:latin typeface="Calibri"/>
              </a:rPr>
              <a:t>Zweite Ebene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2000" b="0" u="none" strike="noStrike">
                <a:solidFill>
                  <a:schemeClr val="dk1"/>
                </a:solidFill>
                <a:latin typeface="Calibri"/>
              </a:rPr>
              <a:t>Dritte Ebene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Vierte Ebene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Fünfte Ebene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dt" idx="7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8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sldNum" idx="9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A688051-465E-46AE-AF10-99E238759208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Abschnitts-&#10;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 bwMode="auto"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60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60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 bwMode="auto"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de-DE" sz="2400" b="0" u="none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Mastertextformat bearbeiten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dt" idx="10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1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sldNum" idx="12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9248A00-0C3F-4A5C-B530-1472F8624302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1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681120"/>
            <a:ext cx="10134000" cy="100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44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 bwMode="auto"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 lang="de-DE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 lang="de-DE" sz="18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defRPr lang="de-DE" sz="18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2800" b="0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/>
            </a:pPr>
            <a:r>
              <a:rPr lang="de-DE" sz="2400" b="0" u="none" strike="noStrike">
                <a:solidFill>
                  <a:schemeClr val="dk1"/>
                </a:solidFill>
                <a:latin typeface="Calibri"/>
              </a:rPr>
              <a:t>Zweite Ebene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2000" b="0" u="none" strike="noStrike">
                <a:solidFill>
                  <a:schemeClr val="dk1"/>
                </a:solidFill>
                <a:latin typeface="Calibri"/>
              </a:rPr>
              <a:t>Dritte Ebene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Vierte Ebene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Fünfte Ebene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 bwMode="auto"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 lang="de-DE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 lang="de-DE" sz="18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defRPr lang="de-DE" sz="18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2800" b="0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/>
            </a:pPr>
            <a:r>
              <a:rPr lang="de-DE" sz="2400" b="0" u="none" strike="noStrike">
                <a:solidFill>
                  <a:schemeClr val="dk1"/>
                </a:solidFill>
                <a:latin typeface="Calibri"/>
              </a:rPr>
              <a:t>Zweite Ebene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2000" b="0" u="none" strike="noStrike">
                <a:solidFill>
                  <a:schemeClr val="dk1"/>
                </a:solidFill>
                <a:latin typeface="Calibri"/>
              </a:rPr>
              <a:t>Dritte Ebene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Vierte Ebene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Fünfte Ebene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dt" idx="13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4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sldNum" idx="15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00445A79-5290-4E66-844F-E81847A58DD2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Vergleich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9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668160"/>
            <a:ext cx="10173960" cy="1021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44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 bwMode="auto">
          <a:xfrm>
            <a:off x="839879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1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de-DE" sz="2400" b="1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8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de-DE" sz="2800" b="0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tabLst>
                <a:tab pos="0" algn="l"/>
              </a:tabLst>
              <a:defRPr/>
            </a:pPr>
            <a:r>
              <a:rPr lang="de-DE" sz="2400" b="0" u="none" strike="noStrike">
                <a:solidFill>
                  <a:schemeClr val="dk1"/>
                </a:solidFill>
                <a:latin typeface="Calibri"/>
              </a:rPr>
              <a:t>Zweite Ebene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de-DE" sz="2000" b="0" u="none" strike="noStrike">
                <a:solidFill>
                  <a:schemeClr val="dk1"/>
                </a:solidFill>
                <a:latin typeface="Calibri"/>
              </a:rPr>
              <a:t>Dritte Ebene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tabLst>
                <a:tab pos="0" algn="l"/>
              </a:tabLst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Vierte Ebene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tabLst>
                <a:tab pos="0" algn="l"/>
              </a:tabLst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Fünfte Ebene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 bwMode="auto"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2400" b="1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de-DE" sz="2400" b="1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 bwMode="auto"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8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tabLst>
                <a:tab pos="0" algn="l"/>
              </a:tabLst>
              <a:defRPr lang="de-DE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tabLst>
                <a:tab pos="0" algn="l"/>
              </a:tabLst>
              <a:defRPr lang="de-DE" sz="18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de-DE" sz="2800" b="0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tabLst>
                <a:tab pos="0" algn="l"/>
              </a:tabLst>
              <a:defRPr/>
            </a:pPr>
            <a:r>
              <a:rPr lang="de-DE" sz="2400" b="0" u="none" strike="noStrike">
                <a:solidFill>
                  <a:schemeClr val="dk1"/>
                </a:solidFill>
                <a:latin typeface="Calibri"/>
              </a:rPr>
              <a:t>Zweite Ebene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/>
            </a:pPr>
            <a:r>
              <a:rPr lang="de-DE" sz="2000" b="0" u="none" strike="noStrike">
                <a:solidFill>
                  <a:schemeClr val="dk1"/>
                </a:solidFill>
                <a:latin typeface="Calibri"/>
              </a:rPr>
              <a:t>Dritte Ebene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tabLst>
                <a:tab pos="0" algn="l"/>
              </a:tabLst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Vierte Ebene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tabLst>
                <a:tab pos="0" algn="l"/>
              </a:tabLst>
              <a:defRPr/>
            </a:pPr>
            <a:r>
              <a:rPr lang="de-DE" sz="1800" b="0" u="none" strike="noStrike">
                <a:solidFill>
                  <a:schemeClr val="dk1"/>
                </a:solidFill>
                <a:latin typeface="Calibri"/>
              </a:rPr>
              <a:t>Fünfte Ebene</a:t>
            </a:r>
          </a:p>
        </p:txBody>
      </p:sp>
      <p:sp>
        <p:nvSpPr>
          <p:cNvPr id="45" name="PlaceHolder 6"/>
          <p:cNvSpPr>
            <a:spLocks noGrp="1"/>
          </p:cNvSpPr>
          <p:nvPr>
            <p:ph type="dt" idx="16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17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7" name="PlaceHolder 8"/>
          <p:cNvSpPr>
            <a:spLocks noGrp="1"/>
          </p:cNvSpPr>
          <p:nvPr>
            <p:ph type="sldNum" idx="18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D54EFF92-E3F9-4722-9C71-3E4F7BA0039C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1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673200"/>
            <a:ext cx="10191960" cy="101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44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63" name="PlaceHolder 2"/>
          <p:cNvSpPr>
            <a:spLocks noGrp="1"/>
          </p:cNvSpPr>
          <p:nvPr>
            <p:ph type="dt" idx="25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ftr" idx="26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5" name="PlaceHolder 4"/>
          <p:cNvSpPr>
            <a:spLocks noGrp="1"/>
          </p:cNvSpPr>
          <p:nvPr>
            <p:ph type="sldNum" idx="27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E3295583-D725-497D-81E2-B81AEB8562A2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3200" b="0" u="none" strike="noStrike">
                <a:solidFill>
                  <a:srgbClr val="000000"/>
                </a:solidFill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800" b="0" u="none" strike="noStrike">
                <a:solidFill>
                  <a:srgbClr val="000000"/>
                </a:solidFill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400" b="0" u="none" strike="noStrike">
                <a:solidFill>
                  <a:srgbClr val="000000"/>
                </a:solidFill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000" b="0" u="none" strike="noStrike">
                <a:solidFill>
                  <a:srgbClr val="000000"/>
                </a:solidFill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Nur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49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673200"/>
            <a:ext cx="10191960" cy="101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44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dt" idx="19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0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3" name="PlaceHolder 4"/>
          <p:cNvSpPr>
            <a:spLocks noGrp="1"/>
          </p:cNvSpPr>
          <p:nvPr>
            <p:ph type="sldNum" idx="21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FAE9E3F-58DB-4739-A41A-1CB363CBCA50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3200" b="0" u="none" strike="noStrike">
                <a:solidFill>
                  <a:srgbClr val="000000"/>
                </a:solidFill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800" b="0" u="none" strike="noStrike">
                <a:solidFill>
                  <a:srgbClr val="000000"/>
                </a:solidFill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400" b="0" u="none" strike="noStrike">
                <a:solidFill>
                  <a:srgbClr val="000000"/>
                </a:solidFill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000" b="0" u="none" strike="noStrike">
                <a:solidFill>
                  <a:srgbClr val="000000"/>
                </a:solidFill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Nur Tit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5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title"/>
          </p:nvPr>
        </p:nvSpPr>
        <p:spPr bwMode="auto">
          <a:xfrm>
            <a:off x="838080" y="673200"/>
            <a:ext cx="10191960" cy="101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44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44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dt" idx="22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23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9" name="PlaceHolder 4"/>
          <p:cNvSpPr>
            <a:spLocks noGrp="1"/>
          </p:cNvSpPr>
          <p:nvPr>
            <p:ph type="sldNum" idx="24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B2FDB9C0-5B56-433A-B6DF-665C36878247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3200" b="0" u="none" strike="noStrike">
                <a:solidFill>
                  <a:srgbClr val="000000"/>
                </a:solidFill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800" b="0" u="none" strike="noStrike">
                <a:solidFill>
                  <a:srgbClr val="000000"/>
                </a:solidFill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400" b="0" u="none" strike="noStrike">
                <a:solidFill>
                  <a:srgbClr val="000000"/>
                </a:solidFill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000" b="0" u="none" strike="noStrike">
                <a:solidFill>
                  <a:srgbClr val="000000"/>
                </a:solidFill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rgbClr val="000000"/>
                </a:solidFill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u="none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800" b="0" u="none" strike="noStrike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400" b="0" u="none" strike="noStrike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68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dt" idx="28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ftr" idx="29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1" name="PlaceHolder 3"/>
          <p:cNvSpPr>
            <a:spLocks noGrp="1"/>
          </p:cNvSpPr>
          <p:nvPr>
            <p:ph type="sldNum" idx="30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8D8F9986-AC54-458E-ABDF-4DC23A9BE9B0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Inhalt mit Überschri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" name="Rechteck 10"/>
          <p:cNvSpPr/>
          <p:nvPr/>
        </p:nvSpPr>
        <p:spPr bwMode="auto">
          <a:xfrm>
            <a:off x="0" y="6274080"/>
            <a:ext cx="12191400" cy="583200"/>
          </a:xfrm>
          <a:prstGeom prst="rect">
            <a:avLst/>
          </a:prstGeom>
          <a:solidFill>
            <a:srgbClr val="C7105C"/>
          </a:solidFill>
          <a:ln>
            <a:solidFill>
              <a:srgbClr val="C710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defRPr/>
            </a:pPr>
            <a:endParaRPr lang="de-DE" sz="1800" b="0" u="none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3" name="Grafik 8"/>
          <p:cNvPicPr/>
          <p:nvPr/>
        </p:nvPicPr>
        <p:blipFill>
          <a:blip r:embed="rId2"/>
          <a:stretch/>
        </p:blipFill>
        <p:spPr bwMode="auto">
          <a:xfrm>
            <a:off x="0" y="0"/>
            <a:ext cx="2318400" cy="50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PlaceHolder 1"/>
          <p:cNvSpPr>
            <a:spLocks noGrp="1"/>
          </p:cNvSpPr>
          <p:nvPr>
            <p:ph type="title"/>
          </p:nvPr>
        </p:nvSpPr>
        <p:spPr bwMode="auto">
          <a:xfrm>
            <a:off x="839879" y="690120"/>
            <a:ext cx="3931560" cy="136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  <a:defRPr/>
            </a:pPr>
            <a:r>
              <a:rPr lang="de-DE" sz="3200" b="0" u="none" strike="noStrike">
                <a:solidFill>
                  <a:schemeClr val="dk1"/>
                </a:solidFill>
                <a:latin typeface="Calibri Light"/>
              </a:rPr>
              <a:t>Mastertitelformat bearbeiten</a:t>
            </a: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 bwMode="auto">
          <a:xfrm>
            <a:off x="4883760" y="99540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3200" b="0" u="none" strike="noStrike">
                <a:solidFill>
                  <a:schemeClr val="dk1"/>
                </a:solidFill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 lang="de-DE" sz="2800" b="0" u="none" strike="noStrike">
                <a:solidFill>
                  <a:schemeClr val="dk1"/>
                </a:solidFill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 lang="de-DE" sz="2000" b="0" u="none" strike="noStrike">
                <a:solidFill>
                  <a:schemeClr val="dk1"/>
                </a:solidFill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defRPr lang="de-DE" sz="2000" b="0" u="none" strike="noStrike">
                <a:solidFill>
                  <a:schemeClr val="dk1"/>
                </a:solidFill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3200" b="0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/>
            </a:pPr>
            <a:r>
              <a:rPr lang="de-DE" sz="2800" b="0" u="none" strike="noStrike">
                <a:solidFill>
                  <a:schemeClr val="dk1"/>
                </a:solidFill>
                <a:latin typeface="Calibri"/>
              </a:rPr>
              <a:t>Zweite Ebene</a:t>
            </a: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/>
            </a:pPr>
            <a:r>
              <a:rPr lang="de-DE" sz="2400" b="0" u="none" strike="noStrike">
                <a:solidFill>
                  <a:schemeClr val="dk1"/>
                </a:solidFill>
                <a:latin typeface="Calibri"/>
              </a:rPr>
              <a:t>Dritte Ebene</a:t>
            </a: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Symbol"/>
              <a:buChar char=""/>
              <a:defRPr/>
            </a:pPr>
            <a:r>
              <a:rPr lang="de-DE" sz="2000" b="0" u="none" strike="noStrike">
                <a:solidFill>
                  <a:schemeClr val="dk1"/>
                </a:solidFill>
                <a:latin typeface="Calibri"/>
              </a:rPr>
              <a:t>Vierte Ebene</a:t>
            </a: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Wingdings"/>
              <a:buChar char=""/>
              <a:defRPr/>
            </a:pPr>
            <a:r>
              <a:rPr lang="de-DE" sz="2000" b="0" u="none" strike="noStrike">
                <a:solidFill>
                  <a:schemeClr val="dk1"/>
                </a:solidFill>
                <a:latin typeface="Calibri"/>
              </a:rPr>
              <a:t>Fünfte Ebene</a:t>
            </a: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 bwMode="auto">
          <a:xfrm>
            <a:off x="839879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de-DE" sz="16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/>
            </a:pPr>
            <a:r>
              <a:rPr lang="de-DE" sz="1600" b="0" u="none" strike="noStrike">
                <a:solidFill>
                  <a:schemeClr val="dk1"/>
                </a:solidFill>
                <a:latin typeface="Calibri"/>
              </a:rPr>
              <a:t>Mastertextformat bearbeiten</a:t>
            </a:r>
          </a:p>
        </p:txBody>
      </p:sp>
      <p:sp>
        <p:nvSpPr>
          <p:cNvPr id="77" name="PlaceHolder 4"/>
          <p:cNvSpPr>
            <a:spLocks noGrp="1"/>
          </p:cNvSpPr>
          <p:nvPr>
            <p:ph type="dt" idx="31"/>
          </p:nvPr>
        </p:nvSpPr>
        <p:spPr bwMode="auto"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200" b="0" u="none" strike="noStrike">
                <a:solidFill>
                  <a:schemeClr val="lt1"/>
                </a:solidFill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ftr" idx="32"/>
          </p:nvPr>
        </p:nvSpPr>
        <p:spPr bwMode="auto"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9" name="PlaceHolder 6"/>
          <p:cNvSpPr>
            <a:spLocks noGrp="1"/>
          </p:cNvSpPr>
          <p:nvPr>
            <p:ph type="sldNum" idx="33"/>
          </p:nvPr>
        </p:nvSpPr>
        <p:spPr bwMode="auto"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200" b="0" u="none" strike="noStrike">
                <a:solidFill>
                  <a:schemeClr val="lt1"/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9294BB57-7FF4-4615-9AB5-40C941A77F0C}" type="slidenum">
              <a:rPr lang="de-DE" sz="1200" b="0" u="none" strike="noStrike">
                <a:solidFill>
                  <a:schemeClr val="lt1"/>
                </a:solidFill>
                <a:latin typeface="Calibri"/>
              </a:rPr>
              <a:t>‹Nr.›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3488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defRPr/>
            </a:pPr>
            <a:r>
              <a:rPr lang="de-DE" sz="4400" b="0" u="none" strike="noStrike" dirty="0">
                <a:solidFill>
                  <a:schemeClr val="dk1"/>
                </a:solidFill>
                <a:latin typeface="Calibri"/>
                <a:ea typeface="Arial"/>
              </a:rPr>
              <a:t>Der Bentley Ottmann Algorithmus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3475328" y="3425304"/>
            <a:ext cx="5240744" cy="1272992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de-DE" sz="1500" b="0" u="none" strike="noStrike" dirty="0">
                <a:solidFill>
                  <a:schemeClr val="dk1"/>
                </a:solidFill>
                <a:latin typeface="Calibri"/>
                <a:ea typeface="Arial"/>
              </a:rPr>
              <a:t>Ross Alexander </a:t>
            </a:r>
            <a:r>
              <a:rPr lang="de-DE" sz="1500" b="0" u="none" strike="noStrike" dirty="0" err="1">
                <a:solidFill>
                  <a:schemeClr val="dk1"/>
                </a:solidFill>
                <a:latin typeface="Calibri"/>
                <a:ea typeface="Arial"/>
              </a:rPr>
              <a:t>KhrisnaUniversität</a:t>
            </a:r>
            <a:r>
              <a:rPr lang="de-DE" sz="1500" b="0" u="none" strike="noStrike" dirty="0">
                <a:solidFill>
                  <a:schemeClr val="dk1"/>
                </a:solidFill>
                <a:latin typeface="Calibri"/>
                <a:ea typeface="Arial"/>
              </a:rPr>
              <a:t> Kassel, Fachbereich 16 – Elektrotechnik/Informatik</a:t>
            </a:r>
            <a:endParaRPr lang="en-US" sz="15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2/12/2026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Motivation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407368" y="1556792"/>
            <a:ext cx="11449272" cy="453650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de-DE" sz="2500" dirty="0"/>
              <a:t>Gegeben: n Liniensegmente in ℝ²</a:t>
            </a: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de-DE" sz="2500" dirty="0"/>
              <a:t>Gesucht: Alle Schnittpunkte</a:t>
            </a:r>
          </a:p>
          <a:p>
            <a:pPr marL="285750" indent="-28575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de-DE" sz="2500" dirty="0"/>
              <a:t>Ziel: Subquadratische Laufzeit</a:t>
            </a:r>
            <a:endParaRPr lang="en-US" sz="25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2/12/2026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AB54863-8A52-47E7-9304-D525BEEA18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016" y="980728"/>
            <a:ext cx="4783460" cy="466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339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Das Segment-Schnitt Problem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4208206" y="2996952"/>
            <a:ext cx="3370764" cy="139397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500" b="0" u="none" strike="noStrike" dirty="0" err="1">
                <a:solidFill>
                  <a:srgbClr val="000000"/>
                </a:solidFill>
                <a:latin typeface="+mj-lt"/>
              </a:rPr>
              <a:t>Entscheidungsproblem</a:t>
            </a:r>
            <a:endParaRPr lang="en-US" sz="2500" dirty="0">
              <a:solidFill>
                <a:srgbClr val="000000"/>
              </a:solidFill>
              <a:latin typeface="+mj-lt"/>
            </a:endParaRPr>
          </a:p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500" b="0" u="none" strike="noStrike" dirty="0">
                <a:solidFill>
                  <a:srgbClr val="000000"/>
                </a:solidFill>
                <a:latin typeface="+mj-lt"/>
              </a:rPr>
              <a:t>Reporting</a:t>
            </a:r>
            <a:r>
              <a:rPr lang="en-US" sz="2500" dirty="0">
                <a:solidFill>
                  <a:srgbClr val="000000"/>
                </a:solidFill>
                <a:latin typeface="+mj-lt"/>
              </a:rPr>
              <a:t>-Problem</a:t>
            </a:r>
          </a:p>
          <a:p>
            <a:pPr algn="ctr" defTabSz="4572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500" b="0" u="none" strike="noStrike" dirty="0">
                <a:solidFill>
                  <a:srgbClr val="000000"/>
                </a:solidFill>
                <a:latin typeface="+mj-lt"/>
              </a:rPr>
              <a:t>Counting</a:t>
            </a:r>
            <a:r>
              <a:rPr lang="en-US" sz="2500" dirty="0">
                <a:solidFill>
                  <a:srgbClr val="000000"/>
                </a:solidFill>
                <a:latin typeface="+mj-lt"/>
              </a:rPr>
              <a:t>-Problem </a:t>
            </a:r>
            <a:endParaRPr lang="en-US" sz="2500" b="0" u="none" strike="noStrike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3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2/12/2026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PlaceHolder 2">
                <a:extLst>
                  <a:ext uri="{FF2B5EF4-FFF2-40B4-BE49-F238E27FC236}">
                    <a16:creationId xmlns:a16="http://schemas.microsoft.com/office/drawing/2014/main" id="{B10FAB12-1818-4DB9-9695-1A85F2BCFCDF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376421" y="2204864"/>
                <a:ext cx="7439157" cy="64807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Autofit/>
              </a:bodyPr>
              <a:lstStyle>
                <a:lvl1pPr indent="0"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tabLst>
                    <a:tab pos="0" algn="l"/>
                  </a:tabLst>
                  <a:defRPr lang="de-DE" sz="4400" b="0" u="none" strike="noStrike" kern="1200">
                    <a:solidFill>
                      <a:schemeClr val="dk1"/>
                    </a:solidFill>
                    <a:latin typeface="Calibri Light"/>
                    <a:ea typeface="+mj-ea"/>
                    <a:cs typeface="+mj-cs"/>
                  </a:defRPr>
                </a:lvl1pPr>
              </a:lstStyle>
              <a:p>
                <a:pPr algn="ctr" defTabSz="457200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80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sz="28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de-DE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sz="28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𝜆</m:t>
                        </m:r>
                        <m:d>
                          <m:dPr>
                            <m:begChr m:val=""/>
                            <m:endChr m:val="|"/>
                            <m:ctrlPr>
                              <a:rPr lang="de-DE" sz="2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de-DE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28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de-DE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de-DE" sz="28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de-DE" sz="28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de-DE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de-DE" sz="2800" i="0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de-DE" sz="2800" i="0"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d>
                    <m:r>
                      <m:rPr>
                        <m:nor/>
                      </m:rPr>
                      <a:rPr lang="de-DE" sz="2800"/>
                      <m:t>​</m:t>
                    </m:r>
                  </m:oMath>
                </a14:m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mit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5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ⅈ</m:t>
                    </m:r>
                    <m:r>
                      <a:rPr lang="en-US" sz="25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5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sz="25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∧ⅈ&gt;0</m:t>
                    </m:r>
                  </m:oMath>
                </a14:m>
                <a:endParaRPr lang="en-US" sz="2500" dirty="0">
                  <a:solidFill>
                    <a:srgbClr val="00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6" name="PlaceHolder 2">
                <a:extLst>
                  <a:ext uri="{FF2B5EF4-FFF2-40B4-BE49-F238E27FC236}">
                    <a16:creationId xmlns:a16="http://schemas.microsoft.com/office/drawing/2014/main" id="{B10FAB12-1818-4DB9-9695-1A85F2BCF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6421" y="2204864"/>
                <a:ext cx="7439157" cy="648072"/>
              </a:xfrm>
              <a:prstGeom prst="rect">
                <a:avLst/>
              </a:prstGeom>
              <a:blipFill>
                <a:blip r:embed="rId3"/>
                <a:stretch>
                  <a:fillRect t="-1887" b="-188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0385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Naiver Algorithmus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4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2/12/2026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25161CC8-BEBF-4114-B9F2-B678D95DE996}"/>
                  </a:ext>
                </a:extLst>
              </p:cNvPr>
              <p:cNvSpPr txBox="1"/>
              <p:nvPr/>
            </p:nvSpPr>
            <p:spPr>
              <a:xfrm>
                <a:off x="479376" y="1635020"/>
                <a:ext cx="4464496" cy="1710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2500" dirty="0">
                    <a:latin typeface="+mj-lt"/>
                  </a:rPr>
                  <a:t>Idee: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2500" dirty="0">
                    <a:latin typeface="+mj-lt"/>
                  </a:rPr>
                  <a:t>Prüfe jedes Segmentpaar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2500" dirty="0">
                    <a:latin typeface="+mj-lt"/>
                  </a:rPr>
                  <a:t>Anzahl der Paare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de-DE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de-DE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de-DE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de-DE" dirty="0">
                    <a:latin typeface="+mj-lt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DE" sz="2500" dirty="0" err="1">
                    <a:latin typeface="+mj-lt"/>
                  </a:rPr>
                  <a:t>Worst</a:t>
                </a:r>
                <a:r>
                  <a:rPr lang="de-DE" sz="2500" dirty="0">
                    <a:latin typeface="+mj-lt"/>
                  </a:rPr>
                  <a:t>-Case Laufzeit von </a:t>
                </a:r>
                <a14:m>
                  <m:oMath xmlns:m="http://schemas.openxmlformats.org/officeDocument/2006/math">
                    <m:r>
                      <a:rPr lang="de-DE" sz="250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de-DE" sz="25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sz="250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25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de-DE" sz="25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de-DE" sz="2500" dirty="0">
                  <a:latin typeface="+mj-lt"/>
                </a:endParaRPr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25161CC8-BEBF-4114-B9F2-B678D95DE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1635020"/>
                <a:ext cx="4464496" cy="1710533"/>
              </a:xfrm>
              <a:prstGeom prst="rect">
                <a:avLst/>
              </a:prstGeom>
              <a:blipFill>
                <a:blip r:embed="rId3"/>
                <a:stretch>
                  <a:fillRect l="-2322" t="-2491" b="-498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fik 7">
            <a:extLst>
              <a:ext uri="{FF2B5EF4-FFF2-40B4-BE49-F238E27FC236}">
                <a16:creationId xmlns:a16="http://schemas.microsoft.com/office/drawing/2014/main" id="{345BAF07-417C-437C-85BB-3DB4F988E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1433" y="1635815"/>
            <a:ext cx="6048375" cy="341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425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Sweep-Line-Technik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pic>
        <p:nvPicPr>
          <p:cNvPr id="2" name="m2-res_1080p">
            <a:hlinkClick r:id="" action="ppaction://media"/>
            <a:extLst>
              <a:ext uri="{FF2B5EF4-FFF2-40B4-BE49-F238E27FC236}">
                <a16:creationId xmlns:a16="http://schemas.microsoft.com/office/drawing/2014/main" id="{CF0BFE6F-1B5B-4AE6-A980-05FD66161C9D}"/>
              </a:ext>
            </a:extLst>
          </p:cNvPr>
          <p:cNvPicPr>
            <a:picLocks noGrp="1" noChangeAspect="1"/>
          </p:cNvPicPr>
          <p:nvPr>
            <p:ph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38906" y="1556792"/>
            <a:ext cx="7114188" cy="4001818"/>
          </a:xfrm>
        </p:spPr>
      </p:pic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5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2/12/2026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4746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5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 err="1">
                <a:latin typeface="Calibri"/>
              </a:rPr>
              <a:t>Shamos-Hoey</a:t>
            </a:r>
            <a:r>
              <a:rPr lang="de-DE" dirty="0">
                <a:latin typeface="Calibri"/>
              </a:rPr>
              <a:t> Algorithmus 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6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2/12/2026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768B5FC-3928-46B2-B51A-53B4FB550A52}"/>
              </a:ext>
            </a:extLst>
          </p:cNvPr>
          <p:cNvSpPr/>
          <p:nvPr/>
        </p:nvSpPr>
        <p:spPr>
          <a:xfrm>
            <a:off x="1545438" y="2124550"/>
            <a:ext cx="1844048" cy="303674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6C1CB186-9DBF-4EBA-B8ED-79667F890E06}"/>
              </a:ext>
            </a:extLst>
          </p:cNvPr>
          <p:cNvSpPr/>
          <p:nvPr/>
        </p:nvSpPr>
        <p:spPr bwMode="auto">
          <a:xfrm>
            <a:off x="1697838" y="2276950"/>
            <a:ext cx="1844048" cy="30367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i="1" dirty="0">
                <a:solidFill>
                  <a:schemeClr val="tx1"/>
                </a:solidFill>
              </a:rPr>
              <a:t>Sweep-Line</a:t>
            </a:r>
          </a:p>
          <a:p>
            <a:pPr algn="ctr"/>
            <a:r>
              <a:rPr lang="de-DE" i="1" dirty="0">
                <a:solidFill>
                  <a:schemeClr val="tx1"/>
                </a:solidFill>
              </a:rPr>
              <a:t>+</a:t>
            </a:r>
          </a:p>
          <a:p>
            <a:pPr algn="ctr"/>
            <a:r>
              <a:rPr lang="de-DE" i="1" dirty="0">
                <a:solidFill>
                  <a:schemeClr val="tx1"/>
                </a:solidFill>
              </a:rPr>
              <a:t>Datenstrukturen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6785997-EA20-4C6D-A3B3-BE85B279AE33}"/>
              </a:ext>
            </a:extLst>
          </p:cNvPr>
          <p:cNvSpPr/>
          <p:nvPr/>
        </p:nvSpPr>
        <p:spPr bwMode="auto">
          <a:xfrm>
            <a:off x="4939113" y="2156548"/>
            <a:ext cx="1844048" cy="303674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76342FC8-9FA8-47D8-B488-5EAA981A521F}"/>
              </a:ext>
            </a:extLst>
          </p:cNvPr>
          <p:cNvSpPr/>
          <p:nvPr/>
        </p:nvSpPr>
        <p:spPr bwMode="auto">
          <a:xfrm>
            <a:off x="5091513" y="2308948"/>
            <a:ext cx="1844048" cy="303674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i="1" dirty="0">
                <a:solidFill>
                  <a:schemeClr val="tx1"/>
                </a:solidFill>
              </a:rPr>
              <a:t>Existiert mind.</a:t>
            </a:r>
          </a:p>
          <a:p>
            <a:pPr algn="ctr"/>
            <a:r>
              <a:rPr lang="de-DE" i="1" dirty="0">
                <a:solidFill>
                  <a:schemeClr val="tx1"/>
                </a:solidFill>
              </a:rPr>
              <a:t>ein Schnittpunkt?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FD75D9B-0E2A-4720-A5BF-FD5DC720CA10}"/>
              </a:ext>
            </a:extLst>
          </p:cNvPr>
          <p:cNvSpPr/>
          <p:nvPr/>
        </p:nvSpPr>
        <p:spPr bwMode="auto">
          <a:xfrm>
            <a:off x="8332788" y="2156548"/>
            <a:ext cx="1844048" cy="30367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8656306D-5CB1-4BAE-A6C3-4E6AB3944751}"/>
                  </a:ext>
                </a:extLst>
              </p:cNvPr>
              <p:cNvSpPr/>
              <p:nvPr/>
            </p:nvSpPr>
            <p:spPr bwMode="auto">
              <a:xfrm>
                <a:off x="8485188" y="2308948"/>
                <a:ext cx="1844048" cy="3036740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d>
                        <m:dPr>
                          <m:ctrlP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de-DE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de-DE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Rechteck 12">
                <a:extLst>
                  <a:ext uri="{FF2B5EF4-FFF2-40B4-BE49-F238E27FC236}">
                    <a16:creationId xmlns:a16="http://schemas.microsoft.com/office/drawing/2014/main" id="{8656306D-5CB1-4BAE-A6C3-4E6AB39447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85188" y="2308948"/>
                <a:ext cx="1844048" cy="30367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279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Datenstrukturen 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407368" y="1556792"/>
            <a:ext cx="4392488" cy="453650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457200" indent="-457200" defTabSz="457200">
              <a:lnSpc>
                <a:spcPct val="100000"/>
              </a:lnSpc>
              <a:buAutoNum type="arabicPeriod"/>
              <a:tabLst>
                <a:tab pos="0" algn="l"/>
              </a:tabLst>
              <a:defRPr/>
            </a:pPr>
            <a:r>
              <a:rPr lang="en-US" sz="2500" b="0" u="none" strike="noStrike" dirty="0">
                <a:solidFill>
                  <a:srgbClr val="000000"/>
                </a:solidFill>
                <a:latin typeface="Arial"/>
              </a:rPr>
              <a:t>Event Queue</a:t>
            </a:r>
          </a:p>
          <a:p>
            <a:pPr marL="342900" indent="-34290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2500" dirty="0" err="1">
                <a:solidFill>
                  <a:srgbClr val="000000"/>
                </a:solidFill>
                <a:latin typeface="Arial"/>
              </a:rPr>
              <a:t>Prioritätswarteschlange</a:t>
            </a:r>
            <a:endParaRPr lang="en-US" sz="2500" dirty="0">
              <a:solidFill>
                <a:srgbClr val="000000"/>
              </a:solidFill>
              <a:latin typeface="Arial"/>
            </a:endParaRPr>
          </a:p>
          <a:p>
            <a:pPr marL="342900" indent="-342900" defTabSz="45720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sz="2500" b="0" u="none" strike="noStrike" dirty="0" err="1">
                <a:solidFill>
                  <a:srgbClr val="000000"/>
                </a:solidFill>
                <a:latin typeface="Arial"/>
              </a:rPr>
              <a:t>Sortiert</a:t>
            </a:r>
            <a:r>
              <a:rPr lang="en-US" sz="2500" b="0" u="none" strike="noStrike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2500" b="0" u="none" strike="noStrike" dirty="0" err="1">
                <a:solidFill>
                  <a:srgbClr val="000000"/>
                </a:solidFill>
                <a:latin typeface="Arial"/>
              </a:rPr>
              <a:t>nach</a:t>
            </a:r>
            <a:r>
              <a:rPr lang="en-US" sz="2500" dirty="0">
                <a:solidFill>
                  <a:srgbClr val="000000"/>
                </a:solidFill>
                <a:latin typeface="Arial"/>
              </a:rPr>
              <a:t> x</a:t>
            </a:r>
            <a:endParaRPr lang="en-US" sz="25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7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2/12/2026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PlaceHolder 2">
                <a:extLst>
                  <a:ext uri="{FF2B5EF4-FFF2-40B4-BE49-F238E27FC236}">
                    <a16:creationId xmlns:a16="http://schemas.microsoft.com/office/drawing/2014/main" id="{56628C43-2B08-4399-9B66-B480EACE0178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600056" y="1556792"/>
                <a:ext cx="4392488" cy="453650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Autofit/>
              </a:bodyPr>
              <a:lstStyle>
                <a:lvl1pPr indent="0"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tabLst>
                    <a:tab pos="0" algn="l"/>
                  </a:tabLst>
                  <a:defRPr lang="de-DE" sz="4400" b="0" u="none" strike="noStrike" kern="1200">
                    <a:solidFill>
                      <a:schemeClr val="dk1"/>
                    </a:solidFill>
                    <a:latin typeface="Calibri Light"/>
                    <a:ea typeface="+mj-ea"/>
                    <a:cs typeface="+mj-cs"/>
                  </a:defRPr>
                </a:lvl1pPr>
              </a:lstStyle>
              <a:p>
                <a:pPr marL="457200" indent="-457200" defTabSz="457200">
                  <a:lnSpc>
                    <a:spcPct val="100000"/>
                  </a:lnSpc>
                  <a:buAutoNum type="arabicPeriod"/>
                  <a:defRPr/>
                </a:pPr>
                <a:r>
                  <a:rPr lang="en-US" sz="2500" dirty="0">
                    <a:solidFill>
                      <a:srgbClr val="000000"/>
                    </a:solidFill>
                    <a:latin typeface="Arial"/>
                  </a:rPr>
                  <a:t>Sweep-Line-Status</a:t>
                </a:r>
              </a:p>
              <a:p>
                <a:pPr marL="457200" indent="-45720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defRPr/>
                </a:pPr>
                <a:r>
                  <a:rPr lang="en-US" sz="2500" dirty="0" err="1">
                    <a:solidFill>
                      <a:srgbClr val="000000"/>
                    </a:solidFill>
                    <a:latin typeface="Arial"/>
                  </a:rPr>
                  <a:t>Balancierter</a:t>
                </a:r>
                <a:r>
                  <a:rPr lang="en-US" sz="2500" dirty="0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Arial"/>
                  </a:rPr>
                  <a:t>binärer</a:t>
                </a:r>
                <a:r>
                  <a:rPr lang="en-US" sz="2500" dirty="0">
                    <a:solidFill>
                      <a:srgbClr val="000000"/>
                    </a:solidFill>
                    <a:latin typeface="Arial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Arial"/>
                  </a:rPr>
                  <a:t>Suchbaum</a:t>
                </a:r>
                <a:endParaRPr lang="en-US" sz="2500" dirty="0">
                  <a:solidFill>
                    <a:srgbClr val="000000"/>
                  </a:solidFill>
                  <a:latin typeface="Arial"/>
                </a:endParaRPr>
              </a:p>
              <a:p>
                <a:pPr marL="457200" indent="-457200" defTabSz="457200">
                  <a:lnSpc>
                    <a:spcPct val="100000"/>
                  </a:lnSpc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en-US" sz="25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5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5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de-DE" sz="25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de-DE" sz="25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5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𝑙𝑜𝑔</m:t>
                        </m:r>
                      </m:fName>
                      <m:e>
                        <m:d>
                          <m:dPr>
                            <m:ctrlPr>
                              <a:rPr lang="en-US" sz="25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5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de-DE" sz="25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sz="2500" i="1" dirty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6" name="PlaceHolder 2">
                <a:extLst>
                  <a:ext uri="{FF2B5EF4-FFF2-40B4-BE49-F238E27FC236}">
                    <a16:creationId xmlns:a16="http://schemas.microsoft.com/office/drawing/2014/main" id="{56628C43-2B08-4399-9B66-B480EACE0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00056" y="1556792"/>
                <a:ext cx="4392488" cy="4536504"/>
              </a:xfrm>
              <a:prstGeom prst="rect">
                <a:avLst/>
              </a:prstGeom>
              <a:blipFill>
                <a:blip r:embed="rId3"/>
                <a:stretch>
                  <a:fillRect l="-2083" t="-940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fik 2">
            <a:extLst>
              <a:ext uri="{FF2B5EF4-FFF2-40B4-BE49-F238E27FC236}">
                <a16:creationId xmlns:a16="http://schemas.microsoft.com/office/drawing/2014/main" id="{84808BF6-802E-4FFF-BD2F-6EF62EDD22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315" b="99724" l="763" r="99584">
                        <a14:foregroundMark x1="27601" y1="8978" x2="29750" y2="25967"/>
                        <a14:foregroundMark x1="29750" y1="25967" x2="30583" y2="27901"/>
                        <a14:foregroundMark x1="27393" y1="5110" x2="35576" y2="26934"/>
                        <a14:foregroundMark x1="35576" y1="26934" x2="38350" y2="52210"/>
                        <a14:foregroundMark x1="38350" y1="52210" x2="31484" y2="56768"/>
                        <a14:foregroundMark x1="23370" y1="0" x2="23725" y2="17812"/>
                        <a14:foregroundMark x1="17523" y1="31344" x2="15950" y2="33978"/>
                        <a14:foregroundMark x1="18639" y1="29475" x2="17975" y2="30586"/>
                        <a14:foregroundMark x1="22874" y1="22383" x2="21743" y2="24277"/>
                        <a14:foregroundMark x1="15950" y1="33978" x2="1179" y2="33978"/>
                        <a14:foregroundMark x1="832" y1="34807" x2="1456" y2="97099"/>
                        <a14:foregroundMark x1="1595" y1="98895" x2="21359" y2="96271"/>
                        <a14:foregroundMark x1="21359" y1="96271" x2="40638" y2="81906"/>
                        <a14:foregroundMark x1="40638" y1="81906" x2="39459" y2="47238"/>
                        <a14:foregroundMark x1="39459" y1="47238" x2="39945" y2="42956"/>
                        <a14:foregroundMark x1="38904" y1="43508" x2="25867" y2="58011"/>
                        <a14:foregroundMark x1="25867" y1="58011" x2="13800" y2="49033"/>
                        <a14:foregroundMark x1="13800" y1="49033" x2="29542" y2="34254"/>
                        <a14:foregroundMark x1="46463" y1="49309" x2="22746" y2="62431"/>
                        <a14:foregroundMark x1="22746" y1="62431" x2="43412" y2="54144"/>
                        <a14:foregroundMark x1="47642" y1="60635" x2="26768" y2="70856"/>
                        <a14:foregroundMark x1="26768" y1="70856" x2="43759" y2="78591"/>
                        <a14:foregroundMark x1="43759" y1="78591" x2="71775" y2="74171"/>
                        <a14:foregroundMark x1="84327" y1="58287" x2="67129" y2="55249"/>
                        <a14:foregroundMark x1="67129" y1="55249" x2="66227" y2="35497"/>
                        <a14:foregroundMark x1="66227" y1="35497" x2="61234" y2="36326"/>
                        <a14:foregroundMark x1="69556" y1="18646" x2="58252" y2="34945"/>
                        <a14:foregroundMark x1="58252" y1="34945" x2="68932" y2="33011"/>
                        <a14:foregroundMark x1="68932" y1="33011" x2="49584" y2="22238"/>
                        <a14:foregroundMark x1="49584" y1="22238" x2="49584" y2="22238"/>
                        <a14:foregroundMark x1="63315" y1="9945" x2="53398" y2="21133"/>
                        <a14:foregroundMark x1="53398" y1="21133" x2="60749" y2="23066"/>
                        <a14:foregroundMark x1="35090" y1="10497" x2="46949" y2="14227"/>
                        <a14:foregroundMark x1="46949" y1="14227" x2="37864" y2="8149"/>
                        <a14:foregroundMark x1="37864" y1="8149" x2="47642" y2="7873"/>
                        <a14:foregroundMark x1="47642" y1="7873" x2="40985" y2="22928"/>
                        <a14:foregroundMark x1="40985" y1="22928" x2="54438" y2="29972"/>
                        <a14:foregroundMark x1="80374" y1="21271" x2="66644" y2="13812"/>
                        <a14:foregroundMark x1="66644" y1="13812" x2="74272" y2="27210"/>
                        <a14:foregroundMark x1="74272" y1="27210" x2="87101" y2="16989"/>
                        <a14:foregroundMark x1="87101" y1="16989" x2="82732" y2="73066"/>
                        <a14:foregroundMark x1="82732" y1="73066" x2="94452" y2="82044"/>
                        <a14:foregroundMark x1="94452" y1="82044" x2="97434" y2="70580"/>
                        <a14:foregroundMark x1="95770" y1="41436" x2="90777" y2="28867"/>
                        <a14:foregroundMark x1="90777" y1="28867" x2="89112" y2="65746"/>
                        <a14:foregroundMark x1="89112" y1="65746" x2="92164" y2="31492"/>
                        <a14:foregroundMark x1="92164" y1="31492" x2="93689" y2="60635"/>
                        <a14:foregroundMark x1="97157" y1="12569" x2="99584" y2="28177"/>
                        <a14:foregroundMark x1="97157" y1="7459" x2="68031" y2="7735"/>
                        <a14:foregroundMark x1="96879" y1="12845" x2="70527" y2="9254"/>
                        <a14:foregroundMark x1="70527" y1="9254" x2="84535" y2="12155"/>
                        <a14:foregroundMark x1="84535" y1="12155" x2="59293" y2="3453"/>
                        <a14:foregroundMark x1="59293" y1="3453" x2="54577" y2="5110"/>
                        <a14:foregroundMark x1="60472" y1="6354" x2="58946" y2="11740"/>
                        <a14:foregroundMark x1="56865" y1="12293" x2="55201" y2="13260"/>
                        <a14:foregroundMark x1="56588" y1="40608" x2="54577" y2="60359"/>
                        <a14:foregroundMark x1="54577" y1="60359" x2="58807" y2="35083"/>
                        <a14:foregroundMark x1="58807" y1="35083" x2="58044" y2="34254"/>
                        <a14:foregroundMark x1="64078" y1="53177" x2="53259" y2="51934"/>
                        <a14:foregroundMark x1="53259" y1="51934" x2="42857" y2="40470"/>
                        <a14:foregroundMark x1="42857" y1="40470" x2="44175" y2="47238"/>
                        <a14:foregroundMark x1="55964" y1="48343" x2="58391" y2="69475"/>
                        <a14:foregroundMark x1="66366" y1="80525" x2="16921" y2="76243"/>
                        <a14:foregroundMark x1="16921" y1="76243" x2="22746" y2="79006"/>
                        <a14:foregroundMark x1="45562" y1="82044" x2="25589" y2="80249"/>
                        <a14:foregroundMark x1="25589" y1="80249" x2="11859" y2="55663"/>
                        <a14:foregroundMark x1="11859" y1="55663" x2="20804" y2="58287"/>
                        <a14:foregroundMark x1="20804" y1="58287" x2="20319" y2="57459"/>
                        <a14:foregroundMark x1="13245" y1="45304" x2="14008" y2="44475"/>
                        <a14:foregroundMark x1="8738" y1="67680" x2="10818" y2="85912"/>
                        <a14:foregroundMark x1="38280" y1="87155" x2="58530" y2="94890"/>
                        <a14:foregroundMark x1="58530" y1="94890" x2="59154" y2="91298"/>
                        <a14:foregroundMark x1="84466" y1="90193" x2="75035" y2="94061"/>
                        <a14:foregroundMark x1="75035" y1="94061" x2="75589" y2="89227"/>
                        <a14:foregroundMark x1="94105" y1="86188" x2="80374" y2="94337"/>
                        <a14:foregroundMark x1="80374" y1="94337" x2="68724" y2="93923"/>
                        <a14:foregroundMark x1="68724" y1="93923" x2="77878" y2="87293"/>
                        <a14:foregroundMark x1="77878" y1="87293" x2="64840" y2="99724"/>
                        <a14:foregroundMark x1="64840" y1="99724" x2="64840" y2="99724"/>
                        <a14:foregroundMark x1="81900" y1="71547" x2="81761" y2="73619"/>
                        <a14:foregroundMark x1="80583" y1="36326" x2="76006" y2="50552"/>
                        <a14:foregroundMark x1="76006" y1="50552" x2="70319" y2="39917"/>
                        <a14:foregroundMark x1="25035" y1="20166" x2="26976" y2="25829"/>
                        <a14:foregroundMark x1="26976" y1="27348" x2="26214" y2="29696"/>
                        <a14:foregroundMark x1="25312" y1="29972" x2="20319" y2="31906"/>
                        <a14:backgroundMark x1="2358" y1="24309" x2="6449" y2="26105"/>
                        <a14:backgroundMark x1="1456" y1="29144" x2="11789" y2="28177"/>
                        <a14:backgroundMark x1="11789" y1="28177" x2="10541" y2="27624"/>
                        <a14:backgroundMark x1="16990" y1="27072" x2="22122" y2="26105"/>
                        <a14:backgroundMark x1="21983" y1="27901" x2="16852" y2="27348"/>
                        <a14:backgroundMark x1="17476" y1="27348" x2="18239" y2="27624"/>
                        <a14:backgroundMark x1="17614" y1="29420" x2="15049" y2="29144"/>
                        <a14:backgroundMark x1="22607" y1="24309" x2="22746" y2="17956"/>
                        <a14:backgroundMark x1="22885" y1="18370" x2="23509" y2="2196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3140968"/>
            <a:ext cx="5181230" cy="260139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DCED948-EFE2-4F87-8607-9E516C395E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088" y="3240208"/>
            <a:ext cx="2702529" cy="240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811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Ordnung der Segmente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8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2/12/2026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A0046666-E53E-4FC5-9CF9-B72689068340}"/>
              </a:ext>
            </a:extLst>
          </p:cNvPr>
          <p:cNvSpPr txBox="1">
            <a:spLocks/>
          </p:cNvSpPr>
          <p:nvPr/>
        </p:nvSpPr>
        <p:spPr bwMode="auto">
          <a:xfrm>
            <a:off x="4471401" y="3491520"/>
            <a:ext cx="3370764" cy="139397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0" algn="l"/>
              </a:tabLst>
              <a:defRPr lang="de-DE" sz="4400" b="0" u="none" strike="noStrike" kern="1200">
                <a:solidFill>
                  <a:schemeClr val="dk1"/>
                </a:solidFill>
                <a:latin typeface="Calibri Light"/>
                <a:ea typeface="+mj-ea"/>
                <a:cs typeface="+mj-cs"/>
              </a:defRPr>
            </a:lvl1pPr>
          </a:lstStyle>
          <a:p>
            <a:pPr algn="ctr" defTabSz="457200">
              <a:lnSpc>
                <a:spcPct val="100000"/>
              </a:lnSpc>
              <a:defRPr/>
            </a:pPr>
            <a:r>
              <a:rPr lang="en-US" sz="2500">
                <a:solidFill>
                  <a:srgbClr val="000000"/>
                </a:solidFill>
                <a:latin typeface="+mj-lt"/>
              </a:rPr>
              <a:t>Entscheidungsproblem</a:t>
            </a:r>
          </a:p>
          <a:p>
            <a:pPr algn="ctr" defTabSz="457200">
              <a:lnSpc>
                <a:spcPct val="100000"/>
              </a:lnSpc>
              <a:defRPr/>
            </a:pPr>
            <a:r>
              <a:rPr lang="en-US" sz="2500">
                <a:solidFill>
                  <a:srgbClr val="000000"/>
                </a:solidFill>
                <a:latin typeface="+mj-lt"/>
              </a:rPr>
              <a:t>Reporting-Problem</a:t>
            </a:r>
          </a:p>
          <a:p>
            <a:pPr algn="ctr" defTabSz="457200">
              <a:lnSpc>
                <a:spcPct val="100000"/>
              </a:lnSpc>
              <a:defRPr/>
            </a:pPr>
            <a:r>
              <a:rPr lang="en-US" sz="2500">
                <a:solidFill>
                  <a:srgbClr val="000000"/>
                </a:solidFill>
                <a:latin typeface="+mj-lt"/>
              </a:rPr>
              <a:t>Counting-Problem </a:t>
            </a:r>
            <a:endParaRPr lang="en-US" sz="2500" dirty="0">
              <a:solidFill>
                <a:srgbClr val="000000"/>
              </a:solidFill>
              <a:latin typeface="+mj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PlaceHolder 2">
                <a:extLst>
                  <a:ext uri="{FF2B5EF4-FFF2-40B4-BE49-F238E27FC236}">
                    <a16:creationId xmlns:a16="http://schemas.microsoft.com/office/drawing/2014/main" id="{A66DF7E8-ECE4-4CB7-B491-5AB688BC898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639616" y="2699432"/>
                <a:ext cx="7439157" cy="648072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1440" tIns="45720" rIns="91440" bIns="45720" anchor="t">
                <a:noAutofit/>
              </a:bodyPr>
              <a:lstStyle>
                <a:lvl1pPr indent="0"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tabLst>
                    <a:tab pos="0" algn="l"/>
                  </a:tabLst>
                  <a:defRPr lang="de-DE" sz="4400" b="0" u="none" strike="noStrike" kern="1200">
                    <a:solidFill>
                      <a:schemeClr val="dk1"/>
                    </a:solidFill>
                    <a:latin typeface="Calibri Light"/>
                    <a:ea typeface="+mj-ea"/>
                    <a:cs typeface="+mj-cs"/>
                  </a:defRPr>
                </a:lvl1pPr>
              </a:lstStyle>
              <a:p>
                <a:pPr algn="ctr" defTabSz="457200">
                  <a:lnSpc>
                    <a:spcPct val="100000"/>
                  </a:lnSpc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80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DE" sz="280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de-DE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2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de-DE" sz="2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sz="2800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𝜆</m:t>
                        </m:r>
                        <m:d>
                          <m:dPr>
                            <m:begChr m:val=""/>
                            <m:endChr m:val="|"/>
                            <m:ctrlPr>
                              <a:rPr lang="de-DE" sz="28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de-DE" sz="28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de-DE" sz="28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i="1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de-DE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de-DE" sz="2800" i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de-DE" sz="2800" i="1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800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de-DE" sz="2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de-DE" sz="2800" i="0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a:rPr lang="de-DE" sz="28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de-DE" sz="2800" i="0"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d>
                    <m:r>
                      <m:rPr>
                        <m:nor/>
                      </m:rPr>
                      <a:rPr lang="de-DE" sz="2800"/>
                      <m:t>​</m:t>
                    </m:r>
                  </m:oMath>
                </a14:m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:r>
                  <a:rPr lang="en-US" sz="2500" dirty="0" err="1">
                    <a:solidFill>
                      <a:srgbClr val="000000"/>
                    </a:solidFill>
                    <a:latin typeface="+mj-lt"/>
                  </a:rPr>
                  <a:t>mit</a:t>
                </a:r>
                <a:r>
                  <a:rPr lang="en-US" sz="2500" dirty="0">
                    <a:solidFill>
                      <a:srgbClr val="000000"/>
                    </a:solidFill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5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ⅈ</m:t>
                    </m:r>
                    <m:r>
                      <a:rPr lang="en-US" sz="25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5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sz="2500" i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∧ⅈ&gt;0</m:t>
                    </m:r>
                  </m:oMath>
                </a14:m>
                <a:endParaRPr lang="en-US" sz="2500" dirty="0">
                  <a:solidFill>
                    <a:srgbClr val="000000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7" name="PlaceHolder 2">
                <a:extLst>
                  <a:ext uri="{FF2B5EF4-FFF2-40B4-BE49-F238E27FC236}">
                    <a16:creationId xmlns:a16="http://schemas.microsoft.com/office/drawing/2014/main" id="{A66DF7E8-ECE4-4CB7-B491-5AB688BC8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9616" y="2699432"/>
                <a:ext cx="7439157" cy="648072"/>
              </a:xfrm>
              <a:prstGeom prst="rect">
                <a:avLst/>
              </a:prstGeom>
              <a:blipFill>
                <a:blip r:embed="rId3"/>
                <a:stretch>
                  <a:fillRect t="-1887" b="-1887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124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Orientierungstest (</a:t>
            </a:r>
            <a:r>
              <a:rPr lang="de-DE" dirty="0" err="1">
                <a:latin typeface="Calibri"/>
              </a:rPr>
              <a:t>ccw</a:t>
            </a:r>
            <a:r>
              <a:rPr lang="de-DE" dirty="0">
                <a:latin typeface="Calibri"/>
              </a:rPr>
              <a:t>)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407368" y="1556792"/>
            <a:ext cx="11449272" cy="453650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15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9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2/12/2026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49813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Schnittpunktberechnung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407368" y="1556792"/>
            <a:ext cx="11449272" cy="453650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15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10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2/12/2026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9178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sz="4400" b="0" u="none" strike="noStrike" dirty="0">
                <a:solidFill>
                  <a:schemeClr val="dk1"/>
                </a:solidFill>
                <a:latin typeface="Calibri"/>
              </a:rPr>
              <a:t>Reporting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407368" y="1556792"/>
            <a:ext cx="11449272" cy="453650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15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2/12/2026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93273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Bentley-Ottmann: Erweiterung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407368" y="1556792"/>
            <a:ext cx="11449272" cy="453650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15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12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2/12/2026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2171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Algorithmus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407368" y="1556792"/>
            <a:ext cx="11449272" cy="453650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15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13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2/12/2026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2908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Laufzeitanalyse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407368" y="1556792"/>
            <a:ext cx="11449272" cy="453650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15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14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2/12/2026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8759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 bwMode="auto">
          <a:xfrm>
            <a:off x="407368" y="548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457200">
              <a:lnSpc>
                <a:spcPct val="100000"/>
              </a:lnSpc>
              <a:buNone/>
              <a:defRPr/>
            </a:pPr>
            <a:r>
              <a:rPr lang="de-DE" dirty="0">
                <a:latin typeface="Calibri"/>
              </a:rPr>
              <a:t>Fazit &amp; Ausblick</a:t>
            </a:r>
            <a:endParaRPr lang="de-DE" sz="4400" b="0" u="none" strike="noStrike" dirty="0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 bwMode="auto">
          <a:xfrm>
            <a:off x="407368" y="1556792"/>
            <a:ext cx="11449272" cy="4536504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  <a:defRPr/>
            </a:pPr>
            <a:endParaRPr lang="en-US" sz="1500" b="0" u="none" strike="noStrike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37"/>
          </p:nvPr>
        </p:nvSpPr>
        <p:spPr bwMode="auto">
          <a:xfrm>
            <a:off x="873720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defRPr/>
            </a:pPr>
            <a:fld id="{6DF3737F-BC64-4184-949C-A06C4EB7F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15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dt" idx="38"/>
          </p:nvPr>
        </p:nvSpPr>
        <p:spPr bwMode="auto"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defRPr/>
            </a:pPr>
            <a:fld id="{DBA14106-6E48-448F-A35B-EE5482582808}" type="datetime1">
              <a:rPr lang="en-US" sz="1200" b="0" u="none" strike="noStrike">
                <a:solidFill>
                  <a:schemeClr val="dk1">
                    <a:tint val="75000"/>
                  </a:schemeClr>
                </a:solidFill>
                <a:latin typeface="Calibri"/>
                <a:ea typeface="Arial"/>
              </a:rPr>
              <a:t>2/12/2026</a:t>
            </a:fld>
            <a:endParaRPr lang="en-US" sz="1200" b="0" u="none" strike="noStrike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46773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169</Words>
  <Application>Microsoft Office PowerPoint</Application>
  <DocSecurity>0</DocSecurity>
  <PresentationFormat>Breitbild</PresentationFormat>
  <Paragraphs>88</Paragraphs>
  <Slides>15</Slides>
  <Notes>15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</vt:lpstr>
      <vt:lpstr>Der Bentley Ottmann Algorithmus</vt:lpstr>
      <vt:lpstr>Motivation</vt:lpstr>
      <vt:lpstr>Das Segment-Schnitt Problem</vt:lpstr>
      <vt:lpstr>Naiver Algorithmus</vt:lpstr>
      <vt:lpstr>Sweep-Line-Technik</vt:lpstr>
      <vt:lpstr>Shamos-Hoey Algorithmus </vt:lpstr>
      <vt:lpstr>Datenstrukturen </vt:lpstr>
      <vt:lpstr>Ordnung der Segmente</vt:lpstr>
      <vt:lpstr>Orientierungstest (ccw)</vt:lpstr>
      <vt:lpstr>Schnittpunktberechnung</vt:lpstr>
      <vt:lpstr>Reporting</vt:lpstr>
      <vt:lpstr>Bentley-Ottmann: Erweiterung</vt:lpstr>
      <vt:lpstr>Algorithmus</vt:lpstr>
      <vt:lpstr>Laufzeitanalyse</vt:lpstr>
      <vt:lpstr>Fazit &amp; Ausblick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 for Papers Bot</dc:title>
  <dc:subject/>
  <dc:creator>Ross Alexander Khrisna</dc:creator>
  <cp:keywords/>
  <dc:description/>
  <cp:lastModifiedBy>Ross Alexander Khrisna</cp:lastModifiedBy>
  <cp:revision>14</cp:revision>
  <dcterms:created xsi:type="dcterms:W3CDTF">2026-02-10T19:41:12Z</dcterms:created>
  <dcterms:modified xsi:type="dcterms:W3CDTF">2026-02-12T15:57:17Z</dcterms:modified>
  <cp:category/>
  <dc:identifier/>
  <cp:contentStatus/>
  <dc:language>en-US</dc:language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1</vt:i4>
  </property>
</Properties>
</file>